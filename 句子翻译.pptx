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8" r:id="rId23"/>
    <p:sldId id="280"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77"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2021/3/3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600" b="1" dirty="0" smtClean="0"/>
              <a:t>应用文训练</a:t>
            </a:r>
            <a:endParaRPr lang="zh-CN" altLang="en-US" sz="6600" b="1" dirty="0"/>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3625571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sz="4800" b="1" dirty="0" smtClean="0"/>
              <a:t>                      </a:t>
            </a:r>
            <a:r>
              <a:rPr lang="zh-CN" altLang="en-US" sz="4800" b="1" dirty="0" smtClean="0"/>
              <a:t>（</a:t>
            </a:r>
            <a:r>
              <a:rPr lang="zh-CN" altLang="zh-CN" sz="4800" b="1" dirty="0" smtClean="0"/>
              <a:t>一</a:t>
            </a:r>
            <a:r>
              <a:rPr lang="zh-CN" altLang="en-US" sz="4800" b="1" dirty="0" smtClean="0"/>
              <a:t>）</a:t>
            </a:r>
            <a:endParaRPr lang="en-US" altLang="zh-CN" sz="4800" b="1" dirty="0" smtClean="0"/>
          </a:p>
          <a:p>
            <a:pPr marL="0" indent="0">
              <a:buNone/>
            </a:pPr>
            <a:endParaRPr lang="en-US" altLang="zh-CN" sz="4800" b="1" dirty="0" smtClean="0"/>
          </a:p>
          <a:p>
            <a:pPr marL="0" indent="0">
              <a:buNone/>
            </a:pPr>
            <a:r>
              <a:rPr lang="en-US" altLang="zh-CN" sz="4800" b="1" dirty="0" smtClean="0"/>
              <a:t> </a:t>
            </a:r>
            <a:r>
              <a:rPr lang="zh-CN" altLang="zh-CN" sz="4800" b="1" dirty="0"/>
              <a:t>活动通知</a:t>
            </a:r>
            <a:r>
              <a:rPr lang="en-US" altLang="zh-CN" sz="4800" b="1" dirty="0"/>
              <a:t>,</a:t>
            </a:r>
            <a:r>
              <a:rPr lang="zh-CN" altLang="zh-CN" sz="4800" b="1" dirty="0"/>
              <a:t>活动报道</a:t>
            </a:r>
            <a:r>
              <a:rPr lang="en-US" altLang="zh-CN" sz="4800" b="1" dirty="0"/>
              <a:t>,</a:t>
            </a:r>
            <a:r>
              <a:rPr lang="zh-CN" altLang="zh-CN" sz="4800" b="1" dirty="0"/>
              <a:t>活动海报</a:t>
            </a:r>
            <a:endParaRPr lang="zh-CN" altLang="zh-CN" sz="4800" dirty="0"/>
          </a:p>
          <a:p>
            <a:endParaRPr lang="zh-CN" altLang="en-US" sz="4800" dirty="0"/>
          </a:p>
        </p:txBody>
      </p:sp>
    </p:spTree>
    <p:extLst>
      <p:ext uri="{BB962C8B-B14F-4D97-AF65-F5344CB8AC3E}">
        <p14:creationId xmlns:p14="http://schemas.microsoft.com/office/powerpoint/2010/main" val="1862059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404664"/>
            <a:ext cx="8229600" cy="5721499"/>
          </a:xfrm>
        </p:spPr>
        <p:txBody>
          <a:bodyPr>
            <a:normAutofit fontScale="92500" lnSpcReduction="10000"/>
          </a:bodyPr>
          <a:lstStyle/>
          <a:p>
            <a:pPr marL="0" indent="0">
              <a:buNone/>
            </a:pPr>
            <a:r>
              <a:rPr lang="zh-CN" altLang="zh-CN" b="1" dirty="0" smtClean="0"/>
              <a:t>写作</a:t>
            </a:r>
            <a:r>
              <a:rPr lang="zh-CN" altLang="zh-CN" b="1" dirty="0"/>
              <a:t>特点：</a:t>
            </a:r>
          </a:p>
          <a:p>
            <a:pPr marL="0" indent="0">
              <a:buNone/>
            </a:pPr>
            <a:r>
              <a:rPr lang="en-US" altLang="zh-CN" dirty="0"/>
              <a:t>1</a:t>
            </a:r>
            <a:r>
              <a:rPr lang="zh-CN" altLang="zh-CN" dirty="0"/>
              <a:t>）书面通知通常</a:t>
            </a:r>
            <a:r>
              <a:rPr lang="zh-CN" altLang="zh-CN" u="sng" dirty="0"/>
              <a:t>有标题</a:t>
            </a:r>
            <a:r>
              <a:rPr lang="en-US" altLang="zh-CN" dirty="0"/>
              <a:t>Notice/ NOTICE . </a:t>
            </a:r>
            <a:r>
              <a:rPr lang="zh-CN" altLang="zh-CN" dirty="0"/>
              <a:t>口头通知通常省略标题。</a:t>
            </a:r>
          </a:p>
          <a:p>
            <a:pPr marL="0" indent="0">
              <a:buNone/>
            </a:pPr>
            <a:r>
              <a:rPr lang="en-US" altLang="zh-CN" dirty="0"/>
              <a:t>2</a:t>
            </a:r>
            <a:r>
              <a:rPr lang="zh-CN" altLang="zh-CN" dirty="0"/>
              <a:t>）书面通知开头无称呼语，用语正式，语言简练，发通知的单位和个人的名称通常写在右下角。口头通知开头通常有称呼语，语言口语化，不必写出通知单位日期。时间地点必须十分明确不得含糊。</a:t>
            </a:r>
          </a:p>
          <a:p>
            <a:pPr marL="0" indent="0">
              <a:buNone/>
            </a:pPr>
            <a:r>
              <a:rPr lang="en-US" altLang="zh-CN" dirty="0"/>
              <a:t>3</a:t>
            </a:r>
            <a:r>
              <a:rPr lang="zh-CN" altLang="zh-CN" dirty="0"/>
              <a:t>）</a:t>
            </a:r>
            <a:r>
              <a:rPr lang="zh-CN" altLang="zh-CN" b="1" dirty="0"/>
              <a:t>通知要点分段：</a:t>
            </a:r>
          </a:p>
          <a:p>
            <a:r>
              <a:rPr lang="en-US" altLang="zh-CN" dirty="0"/>
              <a:t>Para1</a:t>
            </a:r>
            <a:r>
              <a:rPr lang="zh-CN" altLang="zh-CN" dirty="0"/>
              <a:t>活动主题、目的。</a:t>
            </a:r>
          </a:p>
          <a:p>
            <a:r>
              <a:rPr lang="en-US" altLang="zh-CN" dirty="0"/>
              <a:t>Para2</a:t>
            </a:r>
            <a:r>
              <a:rPr lang="zh-CN" altLang="zh-CN" dirty="0"/>
              <a:t>通知细节（事项、时间地点、要求）。</a:t>
            </a:r>
          </a:p>
          <a:p>
            <a:r>
              <a:rPr lang="en-US" altLang="zh-CN" dirty="0"/>
              <a:t>Para3</a:t>
            </a:r>
            <a:r>
              <a:rPr lang="zh-CN" altLang="zh-CN" dirty="0"/>
              <a:t>号召参加。</a:t>
            </a:r>
          </a:p>
          <a:p>
            <a:pPr marL="0" indent="0">
              <a:buNone/>
            </a:pPr>
            <a:endParaRPr lang="zh-CN" altLang="en-US" dirty="0"/>
          </a:p>
        </p:txBody>
      </p:sp>
    </p:spTree>
    <p:extLst>
      <p:ext uri="{BB962C8B-B14F-4D97-AF65-F5344CB8AC3E}">
        <p14:creationId xmlns:p14="http://schemas.microsoft.com/office/powerpoint/2010/main" val="61505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404664"/>
            <a:ext cx="8229600" cy="5721499"/>
          </a:xfrm>
        </p:spPr>
        <p:txBody>
          <a:bodyPr/>
          <a:lstStyle/>
          <a:p>
            <a:r>
              <a:rPr lang="zh-CN" altLang="zh-CN" b="1" dirty="0"/>
              <a:t>（材料）</a:t>
            </a:r>
            <a:r>
              <a:rPr lang="en-US" altLang="zh-CN" b="1" dirty="0"/>
              <a:t>: </a:t>
            </a:r>
            <a:r>
              <a:rPr lang="zh-CN" altLang="zh-CN" b="1" dirty="0"/>
              <a:t>假设你是李华</a:t>
            </a:r>
            <a:r>
              <a:rPr lang="en-US" altLang="zh-CN" b="1" dirty="0"/>
              <a:t>, </a:t>
            </a:r>
            <a:r>
              <a:rPr lang="zh-CN" altLang="zh-CN" b="1" dirty="0"/>
              <a:t>你受学生会委托为校宣传栏</a:t>
            </a:r>
            <a:r>
              <a:rPr lang="en-US" altLang="zh-CN" b="1" dirty="0"/>
              <a:t>“</a:t>
            </a:r>
            <a:r>
              <a:rPr lang="zh-CN" altLang="zh-CN" b="1" dirty="0"/>
              <a:t>英语天地</a:t>
            </a:r>
            <a:r>
              <a:rPr lang="en-US" altLang="zh-CN" b="1" dirty="0"/>
              <a:t>”</a:t>
            </a:r>
            <a:r>
              <a:rPr lang="zh-CN" altLang="zh-CN" b="1" dirty="0"/>
              <a:t>写一则通知，请大家观看一部英文短片</a:t>
            </a:r>
            <a:r>
              <a:rPr lang="en-US" altLang="zh-CN" b="1" dirty="0"/>
              <a:t>Growing Together,</a:t>
            </a:r>
            <a:r>
              <a:rPr lang="zh-CN" altLang="zh-CN" b="1" dirty="0"/>
              <a:t>内容包括</a:t>
            </a:r>
            <a:r>
              <a:rPr lang="en-US" altLang="zh-CN" b="1" dirty="0"/>
              <a:t>:  </a:t>
            </a:r>
            <a:endParaRPr lang="zh-CN" altLang="zh-CN" b="1" dirty="0"/>
          </a:p>
          <a:p>
            <a:r>
              <a:rPr lang="en-US" altLang="zh-CN" b="1" dirty="0"/>
              <a:t>1.</a:t>
            </a:r>
            <a:r>
              <a:rPr lang="zh-CN" altLang="zh-CN" b="1" dirty="0"/>
              <a:t>短片内容：学校的发展；</a:t>
            </a:r>
            <a:r>
              <a:rPr lang="en-US" altLang="zh-CN" b="1" dirty="0"/>
              <a:t> </a:t>
            </a:r>
            <a:endParaRPr lang="en-US" altLang="zh-CN" b="1" dirty="0" smtClean="0"/>
          </a:p>
          <a:p>
            <a:r>
              <a:rPr lang="en-US" altLang="zh-CN" b="1" dirty="0" smtClean="0"/>
              <a:t>2</a:t>
            </a:r>
            <a:r>
              <a:rPr lang="en-US" altLang="zh-CN" b="1" dirty="0"/>
              <a:t>.</a:t>
            </a:r>
            <a:r>
              <a:rPr lang="zh-CN" altLang="zh-CN" b="1" dirty="0"/>
              <a:t>放映时间，地点</a:t>
            </a:r>
            <a:r>
              <a:rPr lang="en-US" altLang="zh-CN" b="1" dirty="0"/>
              <a:t>   </a:t>
            </a:r>
            <a:endParaRPr lang="en-US" altLang="zh-CN" b="1" dirty="0" smtClean="0"/>
          </a:p>
          <a:p>
            <a:r>
              <a:rPr lang="en-US" altLang="zh-CN" b="1" dirty="0" smtClean="0"/>
              <a:t>3</a:t>
            </a:r>
            <a:r>
              <a:rPr lang="en-US" altLang="zh-CN" b="1" dirty="0"/>
              <a:t>.</a:t>
            </a:r>
            <a:r>
              <a:rPr lang="zh-CN" altLang="zh-CN" b="1" dirty="0"/>
              <a:t>欢迎对短片提出意见 </a:t>
            </a:r>
          </a:p>
          <a:p>
            <a:r>
              <a:rPr lang="zh-CN" altLang="zh-CN" b="1" dirty="0"/>
              <a:t>注意：词数</a:t>
            </a:r>
            <a:r>
              <a:rPr lang="en-US" altLang="zh-CN" b="1" dirty="0"/>
              <a:t>100</a:t>
            </a:r>
            <a:r>
              <a:rPr lang="zh-CN" altLang="zh-CN" b="1" dirty="0"/>
              <a:t>左右</a:t>
            </a:r>
            <a:r>
              <a:rPr lang="en-US" altLang="zh-CN" b="1" dirty="0"/>
              <a:t>,  </a:t>
            </a:r>
            <a:r>
              <a:rPr lang="zh-CN" altLang="zh-CN" b="1" dirty="0"/>
              <a:t>可以适当增加细节，以使行文连贯。</a:t>
            </a:r>
          </a:p>
          <a:p>
            <a:pPr marL="0" indent="0">
              <a:buNone/>
            </a:pPr>
            <a:endParaRPr lang="zh-CN" altLang="en-US" dirty="0"/>
          </a:p>
        </p:txBody>
      </p:sp>
    </p:spTree>
    <p:extLst>
      <p:ext uri="{BB962C8B-B14F-4D97-AF65-F5344CB8AC3E}">
        <p14:creationId xmlns:p14="http://schemas.microsoft.com/office/powerpoint/2010/main" val="7178853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395536" y="188640"/>
            <a:ext cx="8229600" cy="6525344"/>
          </a:xfrm>
        </p:spPr>
        <p:txBody>
          <a:bodyPr>
            <a:normAutofit fontScale="85000" lnSpcReduction="20000"/>
          </a:bodyPr>
          <a:lstStyle/>
          <a:p>
            <a:pPr marL="0" indent="0">
              <a:buNone/>
            </a:pPr>
            <a:r>
              <a:rPr lang="zh-CN" altLang="zh-CN" b="1" dirty="0"/>
              <a:t>书面通知范文</a:t>
            </a:r>
            <a:r>
              <a:rPr lang="en-US" altLang="zh-CN" b="1" dirty="0"/>
              <a:t>:</a:t>
            </a:r>
            <a:endParaRPr lang="zh-CN" altLang="zh-CN" dirty="0"/>
          </a:p>
          <a:p>
            <a:pPr marL="0" indent="0" algn="ctr">
              <a:buNone/>
            </a:pPr>
            <a:r>
              <a:rPr lang="en-US" altLang="zh-CN" dirty="0"/>
              <a:t>Notice</a:t>
            </a:r>
            <a:endParaRPr lang="zh-CN" altLang="zh-CN" dirty="0"/>
          </a:p>
          <a:p>
            <a:pPr marL="0" indent="0" algn="just">
              <a:buNone/>
            </a:pPr>
            <a:r>
              <a:rPr lang="en-US" altLang="zh-CN" dirty="0" smtClean="0"/>
              <a:t>      To </a:t>
            </a:r>
            <a:r>
              <a:rPr lang="en-US" altLang="zh-CN" dirty="0"/>
              <a:t>celebrate the 100</a:t>
            </a:r>
            <a:r>
              <a:rPr lang="en-US" altLang="zh-CN" baseline="30000" dirty="0"/>
              <a:t>th</a:t>
            </a:r>
            <a:r>
              <a:rPr lang="en-US" altLang="zh-CN" dirty="0"/>
              <a:t> anniversary of our school, an outstanding English short movie named Growing Together will be shown in the library this Friday afternoon. </a:t>
            </a:r>
            <a:endParaRPr lang="zh-CN" altLang="zh-CN" dirty="0"/>
          </a:p>
          <a:p>
            <a:pPr marL="0" indent="0" algn="just">
              <a:buNone/>
            </a:pPr>
            <a:r>
              <a:rPr lang="en-US" altLang="zh-CN" dirty="0"/>
              <a:t> </a:t>
            </a:r>
            <a:r>
              <a:rPr lang="en-US" altLang="zh-CN" dirty="0" smtClean="0"/>
              <a:t>      </a:t>
            </a:r>
            <a:r>
              <a:rPr lang="en-US" altLang="zh-CN" dirty="0"/>
              <a:t>The film mainly shows us the development of our school, which will not only greatly help students learn more about the history of the school but also appeal to us to make contributions to our school’s future growth. The film is scheduled to begin at 2 pm. Anyone who shows interest in the film is welcome to the lecture hall on the first floor of the main teaching building. </a:t>
            </a:r>
          </a:p>
          <a:p>
            <a:pPr marL="0" indent="0" algn="just">
              <a:buNone/>
            </a:pPr>
            <a:r>
              <a:rPr lang="en-US" altLang="zh-CN" dirty="0"/>
              <a:t> </a:t>
            </a:r>
            <a:r>
              <a:rPr lang="en-US" altLang="zh-CN" dirty="0" smtClean="0"/>
              <a:t>     If </a:t>
            </a:r>
            <a:r>
              <a:rPr lang="en-US" altLang="zh-CN" dirty="0"/>
              <a:t>you have any opinion about the film after watching it, please send emails to studentsunion@163.com. Looking forward to your valuable advice</a:t>
            </a:r>
            <a:r>
              <a:rPr lang="en-US" altLang="zh-CN" dirty="0" smtClean="0"/>
              <a:t>.                                                                       </a:t>
            </a:r>
          </a:p>
          <a:p>
            <a:pPr marL="0" indent="0">
              <a:buNone/>
            </a:pPr>
            <a:r>
              <a:rPr lang="en-US" altLang="zh-CN" dirty="0"/>
              <a:t> </a:t>
            </a:r>
            <a:r>
              <a:rPr lang="en-US" altLang="zh-CN" dirty="0" smtClean="0"/>
              <a:t>                                                                           Student </a:t>
            </a:r>
            <a:r>
              <a:rPr lang="en-US" altLang="zh-CN" dirty="0"/>
              <a:t>Union </a:t>
            </a:r>
            <a:endParaRPr lang="zh-CN" altLang="zh-CN" dirty="0"/>
          </a:p>
          <a:p>
            <a:pPr marL="0" indent="0">
              <a:buNone/>
            </a:pPr>
            <a:r>
              <a:rPr lang="en-US" altLang="zh-CN" dirty="0" smtClean="0"/>
              <a:t>                                                                             June </a:t>
            </a:r>
            <a:r>
              <a:rPr lang="en-US" altLang="zh-CN" dirty="0"/>
              <a:t>8, 2019</a:t>
            </a:r>
            <a:endParaRPr lang="zh-CN" altLang="en-US" dirty="0"/>
          </a:p>
        </p:txBody>
      </p:sp>
    </p:spTree>
    <p:extLst>
      <p:ext uri="{BB962C8B-B14F-4D97-AF65-F5344CB8AC3E}">
        <p14:creationId xmlns:p14="http://schemas.microsoft.com/office/powerpoint/2010/main" val="19832485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332656"/>
            <a:ext cx="8229600" cy="6192688"/>
          </a:xfrm>
        </p:spPr>
        <p:txBody>
          <a:bodyPr>
            <a:normAutofit fontScale="85000" lnSpcReduction="20000"/>
          </a:bodyPr>
          <a:lstStyle/>
          <a:p>
            <a:pPr marL="0" indent="0">
              <a:buNone/>
            </a:pPr>
            <a:r>
              <a:rPr lang="zh-CN" altLang="zh-CN" b="1" dirty="0"/>
              <a:t>口头通知范文</a:t>
            </a:r>
            <a:r>
              <a:rPr lang="en-US" altLang="zh-CN" b="1" dirty="0"/>
              <a:t>:</a:t>
            </a:r>
            <a:endParaRPr lang="zh-CN" altLang="zh-CN" dirty="0"/>
          </a:p>
          <a:p>
            <a:pPr marL="0" indent="0">
              <a:buNone/>
            </a:pPr>
            <a:r>
              <a:rPr lang="en-US" altLang="zh-CN" dirty="0"/>
              <a:t>  </a:t>
            </a:r>
            <a:r>
              <a:rPr lang="en-US" altLang="zh-CN" dirty="0" smtClean="0"/>
              <a:t>       Attention</a:t>
            </a:r>
            <a:r>
              <a:rPr lang="en-US" altLang="zh-CN" dirty="0"/>
              <a:t>, please!  I have an announcement to make. With the support of the Student Council, a short English movie named “Growing Together” is to be shown to celebrate the 80</a:t>
            </a:r>
            <a:r>
              <a:rPr lang="en-US" altLang="zh-CN" baseline="30000" dirty="0"/>
              <a:t>th</a:t>
            </a:r>
            <a:r>
              <a:rPr lang="en-US" altLang="zh-CN" dirty="0"/>
              <a:t> anniversary of the founding of our school.</a:t>
            </a:r>
            <a:endParaRPr lang="zh-CN" altLang="zh-CN" dirty="0"/>
          </a:p>
          <a:p>
            <a:pPr marL="0" indent="0">
              <a:buNone/>
            </a:pPr>
            <a:r>
              <a:rPr lang="en-US" altLang="zh-CN" dirty="0" smtClean="0"/>
              <a:t>        </a:t>
            </a:r>
            <a:r>
              <a:rPr lang="en-US" altLang="zh-CN" dirty="0"/>
              <a:t> The movie presents a splendid picture of our school in front of its audience </a:t>
            </a:r>
            <a:r>
              <a:rPr lang="zh-CN" altLang="zh-CN" dirty="0"/>
              <a:t>—</a:t>
            </a:r>
            <a:r>
              <a:rPr lang="en-US" altLang="zh-CN" dirty="0"/>
              <a:t> its history, development and achievements through the wonderful English interpretation</a:t>
            </a:r>
            <a:r>
              <a:rPr lang="en-US" altLang="zh-CN" dirty="0" smtClean="0"/>
              <a:t>. The </a:t>
            </a:r>
            <a:r>
              <a:rPr lang="en-US" altLang="zh-CN" dirty="0"/>
              <a:t>movie is scheduled to be shown in the lecture hall of Art Building from 7 pm to 8 pm on Sunday evening.</a:t>
            </a:r>
            <a:endParaRPr lang="zh-CN" altLang="zh-CN" dirty="0"/>
          </a:p>
          <a:p>
            <a:pPr marL="0" indent="0">
              <a:buNone/>
            </a:pPr>
            <a:r>
              <a:rPr lang="en-US" altLang="zh-CN" dirty="0" smtClean="0"/>
              <a:t>         Anyone </a:t>
            </a:r>
            <a:r>
              <a:rPr lang="en-US" altLang="zh-CN" dirty="0"/>
              <a:t>who is interested in our school’s latest development is welcome to watch it. After you watch it, we would appreciate it if you could write down your comments about the movie.  </a:t>
            </a:r>
            <a:endParaRPr lang="zh-CN" altLang="zh-CN" dirty="0"/>
          </a:p>
          <a:p>
            <a:pPr marL="0" indent="0">
              <a:buNone/>
            </a:pPr>
            <a:r>
              <a:rPr lang="en-US" altLang="zh-CN" dirty="0" smtClean="0"/>
              <a:t>          That’s </a:t>
            </a:r>
            <a:r>
              <a:rPr lang="en-US" altLang="zh-CN" dirty="0"/>
              <a:t>all .Thank you for </a:t>
            </a:r>
            <a:r>
              <a:rPr lang="en-US" altLang="zh-CN" dirty="0" smtClean="0"/>
              <a:t>listening.</a:t>
            </a:r>
            <a:endParaRPr lang="zh-CN" altLang="en-US" dirty="0"/>
          </a:p>
        </p:txBody>
      </p:sp>
    </p:spTree>
    <p:extLst>
      <p:ext uri="{BB962C8B-B14F-4D97-AF65-F5344CB8AC3E}">
        <p14:creationId xmlns:p14="http://schemas.microsoft.com/office/powerpoint/2010/main" val="1081133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a:bodyPr>
          <a:lstStyle/>
          <a:p>
            <a:pPr marL="0" indent="0">
              <a:buNone/>
            </a:pPr>
            <a:r>
              <a:rPr lang="en-US" altLang="zh-CN" b="1" dirty="0"/>
              <a:t>1.</a:t>
            </a:r>
            <a:r>
              <a:rPr lang="zh-CN" altLang="zh-CN" b="1" dirty="0"/>
              <a:t>同学们，今天下午</a:t>
            </a:r>
            <a:r>
              <a:rPr lang="en-US" altLang="zh-CN" b="1" dirty="0"/>
              <a:t>3</a:t>
            </a:r>
            <a:r>
              <a:rPr lang="zh-CN" altLang="zh-CN" b="1" dirty="0"/>
              <a:t>：</a:t>
            </a:r>
            <a:r>
              <a:rPr lang="en-US" altLang="zh-CN" b="1" dirty="0"/>
              <a:t>30</a:t>
            </a:r>
            <a:r>
              <a:rPr lang="zh-CN" altLang="zh-CN" b="1" dirty="0"/>
              <a:t>在图书馆</a:t>
            </a:r>
            <a:r>
              <a:rPr lang="en-US" altLang="zh-CN" b="1" dirty="0"/>
              <a:t>301</a:t>
            </a:r>
            <a:r>
              <a:rPr lang="zh-CN" altLang="zh-CN" b="1" dirty="0"/>
              <a:t>房间将举行一个报告会。报告人是刚从美国回来的张教授。他将给我们讲述美国的体育运动。欢迎大家参加。</a:t>
            </a:r>
          </a:p>
          <a:p>
            <a:pPr marL="0" indent="0">
              <a:buNone/>
            </a:pPr>
            <a:r>
              <a:rPr lang="en-US" altLang="zh-CN" b="1" dirty="0" smtClean="0"/>
              <a:t>  Dear </a:t>
            </a:r>
            <a:r>
              <a:rPr lang="en-US" altLang="zh-CN" b="1" dirty="0"/>
              <a:t>fellow students, There will be a talk in Room 301 in the library at 3:30 this afternoon. Professor Zhang, who has just come back from the United States, will give us a talk about the sports in America. Welcome to the talk./ Everyone is expected to attend it.</a:t>
            </a:r>
            <a:endParaRPr lang="zh-CN" altLang="zh-CN" b="1" dirty="0"/>
          </a:p>
          <a:p>
            <a:pPr marL="0" indent="0">
              <a:buNone/>
            </a:pPr>
            <a:endParaRPr lang="zh-CN" altLang="en-US" dirty="0"/>
          </a:p>
        </p:txBody>
      </p:sp>
    </p:spTree>
    <p:extLst>
      <p:ext uri="{BB962C8B-B14F-4D97-AF65-F5344CB8AC3E}">
        <p14:creationId xmlns:p14="http://schemas.microsoft.com/office/powerpoint/2010/main" val="39330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lnSpcReduction="10000"/>
          </a:bodyPr>
          <a:lstStyle/>
          <a:p>
            <a:r>
              <a:rPr lang="en-US" altLang="zh-CN" b="1" dirty="0"/>
              <a:t>2</a:t>
            </a:r>
            <a:r>
              <a:rPr lang="zh-CN" altLang="zh-CN" b="1" dirty="0"/>
              <a:t>．本周五下午</a:t>
            </a:r>
            <a:r>
              <a:rPr lang="en-US" altLang="zh-CN" b="1" dirty="0"/>
              <a:t>2</a:t>
            </a:r>
            <a:r>
              <a:rPr lang="zh-CN" altLang="zh-CN" b="1" dirty="0"/>
              <a:t>：</a:t>
            </a:r>
            <a:r>
              <a:rPr lang="en-US" altLang="zh-CN" b="1" dirty="0"/>
              <a:t>30</a:t>
            </a:r>
            <a:r>
              <a:rPr lang="zh-CN" altLang="zh-CN" b="1" dirty="0"/>
              <a:t>在会议室将有一个讨论会，讨论的内容是哪种方法是教授英语的最好方法。是在使用中学习英语，还是主要研究语法？希望大家作好准备，按时参加。</a:t>
            </a:r>
            <a:r>
              <a:rPr lang="en-US" altLang="zh-CN" b="1" dirty="0"/>
              <a:t> </a:t>
            </a:r>
            <a:endParaRPr lang="zh-CN" altLang="zh-CN" b="1" dirty="0"/>
          </a:p>
          <a:p>
            <a:pPr marL="0" indent="0">
              <a:buNone/>
            </a:pPr>
            <a:r>
              <a:rPr lang="en-US" altLang="zh-CN" b="1" dirty="0"/>
              <a:t>There will be a discussion in the meeting room at 2:30 this Friday afternoon. The discussion is about which is the best way to teach English. Shall we learn English through practice or shall we learn it mainly by studying its grammar? Please be prepared and be present on time/ be sure not to be late.</a:t>
            </a:r>
            <a:endParaRPr lang="zh-CN" altLang="en-US" b="1" dirty="0"/>
          </a:p>
        </p:txBody>
      </p:sp>
    </p:spTree>
    <p:extLst>
      <p:ext uri="{BB962C8B-B14F-4D97-AF65-F5344CB8AC3E}">
        <p14:creationId xmlns:p14="http://schemas.microsoft.com/office/powerpoint/2010/main" val="302304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lnSpcReduction="10000"/>
          </a:bodyPr>
          <a:lstStyle/>
          <a:p>
            <a:r>
              <a:rPr lang="en-US" altLang="zh-CN" b="1" dirty="0"/>
              <a:t>3</a:t>
            </a:r>
            <a:r>
              <a:rPr lang="zh-CN" altLang="zh-CN" b="1" dirty="0"/>
              <a:t>．为了迎接元旦的到来，星期五下午进行全校大扫除（</a:t>
            </a:r>
            <a:r>
              <a:rPr lang="en-US" altLang="zh-CN" b="1" dirty="0"/>
              <a:t>a general cleaning</a:t>
            </a:r>
            <a:r>
              <a:rPr lang="zh-CN" altLang="zh-CN" b="1" dirty="0"/>
              <a:t>）。要求全体学生参加</a:t>
            </a:r>
            <a:r>
              <a:rPr lang="zh-CN" altLang="zh-CN" b="1" dirty="0" smtClean="0"/>
              <a:t>。</a:t>
            </a:r>
            <a:endParaRPr lang="en-US" altLang="zh-CN" b="1" dirty="0" smtClean="0"/>
          </a:p>
          <a:p>
            <a:pPr marL="0" indent="0">
              <a:buNone/>
            </a:pPr>
            <a:r>
              <a:rPr lang="en-US" altLang="zh-CN" b="1" dirty="0" smtClean="0"/>
              <a:t>Attention</a:t>
            </a:r>
            <a:r>
              <a:rPr lang="en-US" altLang="zh-CN" b="1" dirty="0"/>
              <a:t>, please. With the New Year’s Day approaching , we are going to have a general cleaning this Friday afternoon. All the students are required to participate in it. </a:t>
            </a:r>
            <a:endParaRPr lang="zh-CN" altLang="zh-CN" b="1" dirty="0"/>
          </a:p>
          <a:p>
            <a:r>
              <a:rPr lang="en-US" altLang="zh-CN" b="1" dirty="0"/>
              <a:t>4</a:t>
            </a:r>
            <a:r>
              <a:rPr lang="zh-CN" altLang="zh-CN" b="1" dirty="0"/>
              <a:t>．此次活动旨在让更多的学生能积极参加校园活动。</a:t>
            </a:r>
          </a:p>
          <a:p>
            <a:pPr marL="0" indent="0">
              <a:buNone/>
            </a:pPr>
            <a:r>
              <a:rPr lang="en-US" altLang="zh-CN" b="1" dirty="0"/>
              <a:t>The activity is aimed at encouraging more students to participate in/be involved in the school activities.</a:t>
            </a:r>
            <a:endParaRPr lang="zh-CN" altLang="zh-CN" b="1" dirty="0"/>
          </a:p>
        </p:txBody>
      </p:sp>
    </p:spTree>
    <p:extLst>
      <p:ext uri="{BB962C8B-B14F-4D97-AF65-F5344CB8AC3E}">
        <p14:creationId xmlns:p14="http://schemas.microsoft.com/office/powerpoint/2010/main" val="411208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a:bodyPr>
          <a:lstStyle/>
          <a:p>
            <a:r>
              <a:rPr lang="en-US" altLang="zh-CN" b="1" dirty="0"/>
              <a:t>5. </a:t>
            </a:r>
            <a:r>
              <a:rPr lang="zh-CN" altLang="zh-CN" b="1" dirty="0"/>
              <a:t>好消息！为了提高学生们的英语口语，学生会将举办一次英语演讲比赛。</a:t>
            </a:r>
          </a:p>
          <a:p>
            <a:pPr marL="0" indent="0">
              <a:buNone/>
            </a:pPr>
            <a:r>
              <a:rPr lang="en-US" altLang="zh-CN" b="1" dirty="0"/>
              <a:t>Good news for you! With the purpose /aim / intention of improving the students’ oral English, the Student Union will hold an English speech contest.</a:t>
            </a:r>
            <a:endParaRPr lang="zh-CN" altLang="zh-CN" b="1" dirty="0"/>
          </a:p>
          <a:p>
            <a:r>
              <a:rPr lang="en-US" altLang="zh-CN" b="1" dirty="0"/>
              <a:t>6. </a:t>
            </a:r>
            <a:r>
              <a:rPr lang="zh-CN" altLang="zh-CN" b="1" dirty="0"/>
              <a:t>有意参赛的同学请在</a:t>
            </a:r>
            <a:r>
              <a:rPr lang="en-US" altLang="zh-CN" b="1" dirty="0"/>
              <a:t>4</a:t>
            </a:r>
            <a:r>
              <a:rPr lang="zh-CN" altLang="zh-CN" b="1" dirty="0"/>
              <a:t>月</a:t>
            </a:r>
            <a:r>
              <a:rPr lang="en-US" altLang="zh-CN" b="1" dirty="0"/>
              <a:t>5</a:t>
            </a:r>
            <a:r>
              <a:rPr lang="zh-CN" altLang="zh-CN" b="1" dirty="0"/>
              <a:t>日之前到教学楼</a:t>
            </a:r>
            <a:r>
              <a:rPr lang="en-US" altLang="zh-CN" b="1" dirty="0"/>
              <a:t>1003</a:t>
            </a:r>
            <a:r>
              <a:rPr lang="zh-CN" altLang="zh-CN" b="1" dirty="0"/>
              <a:t>室报名。</a:t>
            </a:r>
          </a:p>
          <a:p>
            <a:pPr marL="0" indent="0">
              <a:buNone/>
            </a:pPr>
            <a:r>
              <a:rPr lang="en-US" altLang="zh-CN" b="1" dirty="0"/>
              <a:t>Those who would like to participate in the contest are supposed to sign up at the Room 1003 in the teaching building before April 5</a:t>
            </a:r>
            <a:r>
              <a:rPr lang="en-US" altLang="zh-CN" b="1" baseline="30000" dirty="0"/>
              <a:t>th</a:t>
            </a:r>
            <a:r>
              <a:rPr lang="en-US" altLang="zh-CN" b="1" dirty="0"/>
              <a:t>.</a:t>
            </a:r>
            <a:endParaRPr lang="zh-CN" altLang="zh-CN" b="1" dirty="0"/>
          </a:p>
        </p:txBody>
      </p:sp>
    </p:spTree>
    <p:extLst>
      <p:ext uri="{BB962C8B-B14F-4D97-AF65-F5344CB8AC3E}">
        <p14:creationId xmlns:p14="http://schemas.microsoft.com/office/powerpoint/2010/main" val="51215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fontScale="92500" lnSpcReduction="20000"/>
          </a:bodyPr>
          <a:lstStyle/>
          <a:p>
            <a:r>
              <a:rPr lang="en-US" altLang="zh-CN" b="1" dirty="0"/>
              <a:t>7. </a:t>
            </a:r>
            <a:r>
              <a:rPr lang="zh-CN" altLang="zh-CN" b="1" dirty="0"/>
              <a:t>这次活动不但有助于提高学生的英语水平，而且还将促进同学间的团结合作。</a:t>
            </a:r>
          </a:p>
          <a:p>
            <a:pPr marL="0" indent="0">
              <a:buNone/>
            </a:pPr>
            <a:r>
              <a:rPr lang="en-US" altLang="zh-CN" b="1" dirty="0"/>
              <a:t>Not only will the activity help to improve students’  English, but also it will promote the unity and cooperation among students.</a:t>
            </a:r>
            <a:endParaRPr lang="zh-CN" altLang="zh-CN" b="1" dirty="0"/>
          </a:p>
          <a:p>
            <a:r>
              <a:rPr lang="en-US" altLang="zh-CN" b="1" dirty="0"/>
              <a:t>8.</a:t>
            </a:r>
            <a:r>
              <a:rPr lang="zh-CN" altLang="zh-CN" b="1" dirty="0"/>
              <a:t>会议改期，时间另行通知</a:t>
            </a:r>
            <a:r>
              <a:rPr lang="zh-CN" altLang="zh-CN" b="1" dirty="0" smtClean="0"/>
              <a:t>。</a:t>
            </a:r>
            <a:endParaRPr lang="en-US" altLang="zh-CN" b="1" dirty="0" smtClean="0"/>
          </a:p>
          <a:p>
            <a:pPr marL="0" indent="0">
              <a:buNone/>
            </a:pPr>
            <a:r>
              <a:rPr lang="en-US" altLang="zh-CN" b="1" dirty="0" smtClean="0"/>
              <a:t>The </a:t>
            </a:r>
            <a:r>
              <a:rPr lang="en-US" altLang="zh-CN" b="1" dirty="0"/>
              <a:t>meeting is postponed/put off until further notice.</a:t>
            </a:r>
            <a:endParaRPr lang="zh-CN" altLang="zh-CN" b="1" dirty="0"/>
          </a:p>
          <a:p>
            <a:r>
              <a:rPr lang="en-US" altLang="zh-CN" b="1" dirty="0"/>
              <a:t>9. </a:t>
            </a:r>
            <a:r>
              <a:rPr lang="zh-CN" altLang="zh-CN" b="1" dirty="0"/>
              <a:t>按安排，学生们将早晨</a:t>
            </a:r>
            <a:r>
              <a:rPr lang="en-US" altLang="zh-CN" b="1" dirty="0"/>
              <a:t>7</a:t>
            </a:r>
            <a:r>
              <a:rPr lang="zh-CN" altLang="zh-CN" b="1" dirty="0"/>
              <a:t>点在教学楼前集合然后开始清理校园垃圾。</a:t>
            </a:r>
          </a:p>
          <a:p>
            <a:pPr marL="0" indent="0">
              <a:buNone/>
            </a:pPr>
            <a:r>
              <a:rPr lang="en-US" altLang="zh-CN" b="1" dirty="0"/>
              <a:t>As scheduled, the students will </a:t>
            </a:r>
            <a:r>
              <a:rPr lang="en-US" altLang="zh-CN" b="1" u="sng" dirty="0"/>
              <a:t>gather</a:t>
            </a:r>
            <a:r>
              <a:rPr lang="en-US" altLang="zh-CN" b="1" dirty="0"/>
              <a:t> in front of the teaching building at 7 a.m. and then set out to get rid of the garbage on campus.</a:t>
            </a:r>
            <a:endParaRPr lang="zh-CN" altLang="zh-CN" b="1" dirty="0"/>
          </a:p>
        </p:txBody>
      </p:sp>
    </p:spTree>
    <p:extLst>
      <p:ext uri="{BB962C8B-B14F-4D97-AF65-F5344CB8AC3E}">
        <p14:creationId xmlns:p14="http://schemas.microsoft.com/office/powerpoint/2010/main" val="292371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lnSpcReduction="10000"/>
          </a:bodyPr>
          <a:lstStyle/>
          <a:p>
            <a:r>
              <a:rPr lang="en-US" altLang="zh-CN" b="1" dirty="0"/>
              <a:t>10.</a:t>
            </a:r>
            <a:r>
              <a:rPr lang="zh-CN" altLang="zh-CN" b="1" dirty="0"/>
              <a:t>欲知详情，请致电</a:t>
            </a:r>
            <a:r>
              <a:rPr lang="en-US" altLang="zh-CN" b="1" dirty="0"/>
              <a:t>12306</a:t>
            </a:r>
            <a:r>
              <a:rPr lang="zh-CN" altLang="zh-CN" b="1" dirty="0"/>
              <a:t>与约翰</a:t>
            </a:r>
            <a:r>
              <a:rPr lang="en-US" altLang="zh-CN" b="1" dirty="0"/>
              <a:t>·</a:t>
            </a:r>
            <a:r>
              <a:rPr lang="zh-CN" altLang="zh-CN" b="1" dirty="0"/>
              <a:t>史密斯联系</a:t>
            </a:r>
            <a:r>
              <a:rPr lang="zh-CN" altLang="zh-CN" b="1" dirty="0" smtClean="0"/>
              <a:t>。</a:t>
            </a:r>
            <a:endParaRPr lang="en-US" altLang="zh-CN" b="1" dirty="0" smtClean="0"/>
          </a:p>
          <a:p>
            <a:pPr marL="0" indent="0">
              <a:buNone/>
            </a:pPr>
            <a:r>
              <a:rPr lang="en-US" altLang="zh-CN" b="1" dirty="0" smtClean="0"/>
              <a:t>For </a:t>
            </a:r>
            <a:r>
              <a:rPr lang="en-US" altLang="zh-CN" b="1" dirty="0"/>
              <a:t>further information, </a:t>
            </a:r>
            <a:r>
              <a:rPr lang="en-US" altLang="zh-CN" b="1" dirty="0" smtClean="0"/>
              <a:t>please </a:t>
            </a:r>
            <a:r>
              <a:rPr lang="en-US" altLang="zh-CN" b="1" dirty="0"/>
              <a:t>contact John Smith at 12306.</a:t>
            </a:r>
            <a:endParaRPr lang="zh-CN" altLang="zh-CN" b="1" dirty="0"/>
          </a:p>
          <a:p>
            <a:r>
              <a:rPr lang="en-US" altLang="zh-CN" b="1" dirty="0"/>
              <a:t>11.</a:t>
            </a:r>
            <a:r>
              <a:rPr lang="zh-CN" altLang="zh-CN" b="1" dirty="0"/>
              <a:t>希望所有参赛者做好准备以力争在比赛中发挥最佳水平</a:t>
            </a:r>
            <a:r>
              <a:rPr lang="zh-CN" altLang="zh-CN" b="1" dirty="0" smtClean="0"/>
              <a:t>。</a:t>
            </a:r>
            <a:endParaRPr lang="en-US" altLang="zh-CN" b="1" dirty="0" smtClean="0"/>
          </a:p>
          <a:p>
            <a:pPr marL="0" indent="0">
              <a:buNone/>
            </a:pPr>
            <a:r>
              <a:rPr lang="en-US" altLang="zh-CN" b="1" dirty="0" smtClean="0"/>
              <a:t>All </a:t>
            </a:r>
            <a:r>
              <a:rPr lang="en-US" altLang="zh-CN" b="1" dirty="0"/>
              <a:t>the </a:t>
            </a:r>
            <a:r>
              <a:rPr lang="en-US" altLang="zh-CN" b="1" dirty="0" smtClean="0"/>
              <a:t>competitors </a:t>
            </a:r>
            <a:r>
              <a:rPr lang="en-US" altLang="zh-CN" b="1" dirty="0"/>
              <a:t>are expected to be fully prepared so as to give the best performance in the competition .</a:t>
            </a:r>
            <a:endParaRPr lang="zh-CN" altLang="zh-CN" b="1" dirty="0"/>
          </a:p>
          <a:p>
            <a:r>
              <a:rPr lang="en-US" altLang="zh-CN" b="1" dirty="0"/>
              <a:t>12. </a:t>
            </a:r>
            <a:r>
              <a:rPr lang="zh-CN" altLang="zh-CN" b="1" dirty="0"/>
              <a:t>你务必要把这次会议的时间地点通知到每一个相关的人（</a:t>
            </a:r>
            <a:r>
              <a:rPr lang="en-US" altLang="zh-CN" b="1" dirty="0"/>
              <a:t>see</a:t>
            </a:r>
            <a:r>
              <a:rPr lang="zh-CN" altLang="zh-CN" b="1" dirty="0"/>
              <a:t>）</a:t>
            </a:r>
            <a:r>
              <a:rPr lang="zh-CN" altLang="zh-CN" b="1" dirty="0" smtClean="0"/>
              <a:t>。</a:t>
            </a:r>
            <a:endParaRPr lang="en-US" altLang="zh-CN" b="1" dirty="0" smtClean="0"/>
          </a:p>
          <a:p>
            <a:pPr marL="0" indent="0">
              <a:buNone/>
            </a:pPr>
            <a:r>
              <a:rPr lang="en-US" altLang="zh-CN" b="1" dirty="0" smtClean="0"/>
              <a:t>You </a:t>
            </a:r>
            <a:r>
              <a:rPr lang="en-US" altLang="zh-CN" b="1" dirty="0"/>
              <a:t>will see (to it )that everyone concerned knows the time and place of the meeting.</a:t>
            </a:r>
            <a:endParaRPr lang="zh-CN" altLang="zh-CN" b="1" dirty="0"/>
          </a:p>
        </p:txBody>
      </p:sp>
    </p:spTree>
    <p:extLst>
      <p:ext uri="{BB962C8B-B14F-4D97-AF65-F5344CB8AC3E}">
        <p14:creationId xmlns:p14="http://schemas.microsoft.com/office/powerpoint/2010/main" val="420588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13. </a:t>
            </a:r>
            <a:r>
              <a:rPr lang="zh-CN" altLang="zh-CN" b="1" dirty="0"/>
              <a:t>这个活动旨在弘扬中国传统文化</a:t>
            </a:r>
            <a:r>
              <a:rPr lang="en-US" altLang="zh-CN" b="1" dirty="0"/>
              <a:t>.</a:t>
            </a:r>
            <a:r>
              <a:rPr lang="zh-CN" altLang="zh-CN" b="1" dirty="0"/>
              <a:t>促进中外文化交流</a:t>
            </a:r>
            <a:r>
              <a:rPr lang="en-US" altLang="zh-CN" b="1" dirty="0" smtClean="0"/>
              <a:t>.</a:t>
            </a:r>
          </a:p>
          <a:p>
            <a:pPr marL="0" indent="0">
              <a:buNone/>
            </a:pPr>
            <a:r>
              <a:rPr lang="en-US" altLang="zh-CN" b="1" dirty="0" smtClean="0"/>
              <a:t>This </a:t>
            </a:r>
            <a:r>
              <a:rPr lang="en-US" altLang="zh-CN" b="1" dirty="0"/>
              <a:t>activity aims to promote/advance Chinese traditional culture and cultural exchanges between China and other countries.</a:t>
            </a:r>
            <a:endParaRPr lang="zh-CN" altLang="zh-CN" b="1" dirty="0"/>
          </a:p>
          <a:p>
            <a:r>
              <a:rPr lang="en-US" altLang="zh-CN" b="1" dirty="0"/>
              <a:t>14. </a:t>
            </a:r>
            <a:r>
              <a:rPr lang="zh-CN" altLang="zh-CN" b="1" dirty="0"/>
              <a:t>为了让同学们更好的了解这些变化并珍惜现在的生活，学校号召我们以此为主题写一篇英语文章。</a:t>
            </a:r>
          </a:p>
          <a:p>
            <a:pPr marL="0" indent="0">
              <a:buNone/>
            </a:pPr>
            <a:r>
              <a:rPr lang="en-US" altLang="zh-CN" b="1" dirty="0"/>
              <a:t>  In order to help us students better understand these changes and cherish/value our present life, our school calls on us to write an English article based on the theme. </a:t>
            </a:r>
            <a:endParaRPr lang="zh-CN" altLang="zh-CN" b="1" dirty="0"/>
          </a:p>
        </p:txBody>
      </p:sp>
    </p:spTree>
    <p:extLst>
      <p:ext uri="{BB962C8B-B14F-4D97-AF65-F5344CB8AC3E}">
        <p14:creationId xmlns:p14="http://schemas.microsoft.com/office/powerpoint/2010/main" val="14434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15.</a:t>
            </a:r>
            <a:r>
              <a:rPr lang="zh-CN" altLang="zh-CN" b="1" dirty="0"/>
              <a:t>同学们可举例说明中国四十年来在人民生活、科技、交通和通讯等各方面发生的巨大变化</a:t>
            </a:r>
            <a:r>
              <a:rPr lang="zh-CN" altLang="zh-CN" b="1" dirty="0" smtClean="0"/>
              <a:t>。</a:t>
            </a:r>
            <a:endParaRPr lang="en-US" altLang="zh-CN" b="1" dirty="0" smtClean="0"/>
          </a:p>
          <a:p>
            <a:pPr marL="0" indent="0">
              <a:buNone/>
            </a:pPr>
            <a:r>
              <a:rPr lang="en-US" altLang="zh-CN" b="1" dirty="0" smtClean="0"/>
              <a:t>You </a:t>
            </a:r>
            <a:r>
              <a:rPr lang="en-US" altLang="zh-CN" b="1" dirty="0"/>
              <a:t>are advised to give examples of our country’s significant progress in people's life, science, transportation and communication in the past 40 years. </a:t>
            </a:r>
            <a:endParaRPr lang="zh-CN" altLang="zh-CN" b="1" dirty="0"/>
          </a:p>
          <a:p>
            <a:r>
              <a:rPr lang="en-US" altLang="zh-CN" b="1" dirty="0"/>
              <a:t>16.</a:t>
            </a:r>
            <a:r>
              <a:rPr lang="zh-CN" altLang="zh-CN" b="1" dirty="0"/>
              <a:t>活动定于本周五上午八点在学校礼堂举行。</a:t>
            </a:r>
          </a:p>
          <a:p>
            <a:pPr marL="0" indent="0">
              <a:buNone/>
            </a:pPr>
            <a:r>
              <a:rPr lang="en-US" altLang="zh-CN" b="1" dirty="0"/>
              <a:t>The activity is scheduled to be held in the school hall at 8 o’clock this Friday morning. </a:t>
            </a:r>
            <a:endParaRPr lang="zh-CN" altLang="zh-CN" b="1" dirty="0"/>
          </a:p>
        </p:txBody>
      </p:sp>
    </p:spTree>
    <p:extLst>
      <p:ext uri="{BB962C8B-B14F-4D97-AF65-F5344CB8AC3E}">
        <p14:creationId xmlns:p14="http://schemas.microsoft.com/office/powerpoint/2010/main" val="378130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17. </a:t>
            </a:r>
            <a:r>
              <a:rPr lang="zh-CN" altLang="zh-CN" b="1" dirty="0"/>
              <a:t>由于天气恶劣，原定于本周五举行的校运会不得不推迟，直到另行通知</a:t>
            </a:r>
            <a:r>
              <a:rPr lang="zh-CN" altLang="zh-CN" b="1" dirty="0" smtClean="0"/>
              <a:t>。</a:t>
            </a:r>
            <a:endParaRPr lang="en-US" altLang="zh-CN" b="1" dirty="0" smtClean="0"/>
          </a:p>
          <a:p>
            <a:pPr marL="0" indent="0">
              <a:buNone/>
            </a:pPr>
            <a:r>
              <a:rPr lang="en-US" altLang="zh-CN" b="1" dirty="0" smtClean="0"/>
              <a:t>Owing </a:t>
            </a:r>
            <a:r>
              <a:rPr lang="en-US" altLang="zh-CN" b="1" dirty="0"/>
              <a:t>to the awful weather, the school sports meeting originally scheduled to take place this Friday has to be put off until further notice.</a:t>
            </a:r>
            <a:endParaRPr lang="zh-CN" altLang="zh-CN" b="1" dirty="0"/>
          </a:p>
          <a:p>
            <a:r>
              <a:rPr lang="en-US" altLang="zh-CN" b="1" dirty="0"/>
              <a:t>18. </a:t>
            </a:r>
            <a:r>
              <a:rPr lang="zh-CN" altLang="zh-CN" b="1" dirty="0"/>
              <a:t>请务必准时到达，并在整个会议期间保持手机处于静音状态。</a:t>
            </a:r>
          </a:p>
          <a:p>
            <a:pPr marL="0" indent="0">
              <a:buNone/>
            </a:pPr>
            <a:r>
              <a:rPr lang="en-US" altLang="zh-CN" b="1" dirty="0" smtClean="0"/>
              <a:t>Please be sure to arrive on time/on schedule and keep you cell phone in silent mode all through the meeting.</a:t>
            </a:r>
            <a:endParaRPr lang="zh-CN" altLang="zh-CN" b="1" dirty="0"/>
          </a:p>
        </p:txBody>
      </p:sp>
    </p:spTree>
    <p:extLst>
      <p:ext uri="{BB962C8B-B14F-4D97-AF65-F5344CB8AC3E}">
        <p14:creationId xmlns:p14="http://schemas.microsoft.com/office/powerpoint/2010/main" val="33845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19. </a:t>
            </a:r>
            <a:r>
              <a:rPr lang="zh-CN" altLang="zh-CN" b="1" dirty="0"/>
              <a:t>你的积极参与一定会对社会产生影响</a:t>
            </a:r>
            <a:r>
              <a:rPr lang="zh-CN" altLang="zh-CN" b="1" dirty="0" smtClean="0"/>
              <a:t>。</a:t>
            </a:r>
            <a:endParaRPr lang="en-US" altLang="zh-CN" b="1" dirty="0"/>
          </a:p>
          <a:p>
            <a:pPr marL="0" indent="0">
              <a:buNone/>
            </a:pPr>
            <a:r>
              <a:rPr lang="en-US" altLang="zh-CN" b="1" dirty="0" smtClean="0"/>
              <a:t> Your </a:t>
            </a:r>
            <a:r>
              <a:rPr lang="en-US" altLang="zh-CN" b="1" dirty="0"/>
              <a:t>active participation will surely make a difference to society. </a:t>
            </a:r>
            <a:endParaRPr lang="zh-CN" altLang="zh-CN" b="1" dirty="0"/>
          </a:p>
          <a:p>
            <a:r>
              <a:rPr lang="en-US" altLang="zh-CN" b="1" dirty="0"/>
              <a:t>20. </a:t>
            </a:r>
            <a:r>
              <a:rPr lang="zh-CN" altLang="zh-CN" b="1" dirty="0"/>
              <a:t>活动包括汉语演讲比赛，您可以分享学习汉语的经验或介绍一个中国传统节日</a:t>
            </a:r>
            <a:r>
              <a:rPr lang="zh-CN" altLang="zh-CN" b="1" dirty="0" smtClean="0"/>
              <a:t>。</a:t>
            </a:r>
            <a:endParaRPr lang="en-US" altLang="zh-CN" b="1" dirty="0" smtClean="0"/>
          </a:p>
          <a:p>
            <a:pPr marL="0" indent="0">
              <a:buNone/>
            </a:pPr>
            <a:r>
              <a:rPr lang="en-US" altLang="zh-CN" b="1" dirty="0" smtClean="0"/>
              <a:t>The </a:t>
            </a:r>
            <a:r>
              <a:rPr lang="en-US" altLang="zh-CN" b="1" dirty="0"/>
              <a:t>activities include Chinese Speech Contest, in which you can share your experience of learning Chinese or </a:t>
            </a:r>
            <a:r>
              <a:rPr lang="en-US" altLang="zh-CN" b="1" dirty="0" smtClean="0"/>
              <a:t>introduce </a:t>
            </a:r>
            <a:r>
              <a:rPr lang="en-US" altLang="zh-CN" b="1" dirty="0"/>
              <a:t>one Chinese traditional festival.</a:t>
            </a:r>
            <a:endParaRPr lang="zh-CN" altLang="zh-CN" b="1" dirty="0"/>
          </a:p>
        </p:txBody>
      </p:sp>
    </p:spTree>
    <p:extLst>
      <p:ext uri="{BB962C8B-B14F-4D97-AF65-F5344CB8AC3E}">
        <p14:creationId xmlns:p14="http://schemas.microsoft.com/office/powerpoint/2010/main" val="17994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21. </a:t>
            </a:r>
            <a:r>
              <a:rPr lang="zh-CN" altLang="zh-CN" b="1" dirty="0"/>
              <a:t>参加比赛的学生先听一首歌的一部分或一段音乐，然后猜它来自哪首歌曲</a:t>
            </a:r>
            <a:r>
              <a:rPr lang="zh-CN" altLang="zh-CN" b="1" dirty="0" smtClean="0"/>
              <a:t>。</a:t>
            </a:r>
            <a:endParaRPr lang="en-US" altLang="zh-CN" b="1" dirty="0" smtClean="0"/>
          </a:p>
          <a:p>
            <a:pPr marL="0" indent="0">
              <a:buNone/>
            </a:pPr>
            <a:r>
              <a:rPr lang="en-US" altLang="zh-CN" b="1" dirty="0" smtClean="0"/>
              <a:t>The </a:t>
            </a:r>
            <a:r>
              <a:rPr lang="en-US" altLang="zh-CN" b="1" dirty="0"/>
              <a:t>students participating in the contest will listen to part of s song or a piece of music, and then guess where it comes from.</a:t>
            </a:r>
            <a:endParaRPr lang="zh-CN" altLang="zh-CN" b="1" dirty="0"/>
          </a:p>
          <a:p>
            <a:r>
              <a:rPr lang="en-US" altLang="zh-CN" b="1" dirty="0"/>
              <a:t>22. </a:t>
            </a:r>
            <a:r>
              <a:rPr lang="zh-CN" altLang="zh-CN" b="1" dirty="0"/>
              <a:t>你如果要参加活动，必须在下周四下午</a:t>
            </a:r>
            <a:r>
              <a:rPr lang="en-US" altLang="zh-CN" b="1" dirty="0"/>
              <a:t>5</a:t>
            </a:r>
            <a:r>
              <a:rPr lang="zh-CN" altLang="zh-CN" b="1" dirty="0"/>
              <a:t>点前在办公室报名名。不要错过最后期限</a:t>
            </a:r>
            <a:r>
              <a:rPr lang="zh-CN" altLang="zh-CN" b="1" dirty="0" smtClean="0"/>
              <a:t>。</a:t>
            </a:r>
            <a:endParaRPr lang="en-US" altLang="zh-CN" b="1" dirty="0" smtClean="0"/>
          </a:p>
          <a:p>
            <a:pPr marL="0" indent="0">
              <a:buNone/>
            </a:pPr>
            <a:r>
              <a:rPr lang="en-US" altLang="zh-CN" b="1" dirty="0" smtClean="0"/>
              <a:t>To </a:t>
            </a:r>
            <a:r>
              <a:rPr lang="en-US" altLang="zh-CN" b="1" dirty="0"/>
              <a:t>join in the activity, you should sign up in the office before 5 pm </a:t>
            </a:r>
            <a:r>
              <a:rPr lang="en-US" altLang="zh-CN" b="1" dirty="0" smtClean="0"/>
              <a:t>next </a:t>
            </a:r>
            <a:r>
              <a:rPr lang="en-US" altLang="zh-CN" b="1" dirty="0"/>
              <a:t>Thursday. Don't miss the deadline.</a:t>
            </a:r>
            <a:endParaRPr lang="zh-CN" altLang="zh-CN" b="1" dirty="0"/>
          </a:p>
        </p:txBody>
      </p:sp>
    </p:spTree>
    <p:extLst>
      <p:ext uri="{BB962C8B-B14F-4D97-AF65-F5344CB8AC3E}">
        <p14:creationId xmlns:p14="http://schemas.microsoft.com/office/powerpoint/2010/main" val="190711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23. </a:t>
            </a:r>
            <a:r>
              <a:rPr lang="zh-CN" altLang="zh-CN" b="1" dirty="0"/>
              <a:t>一场激动人心的活动“校园创新”即将到来。希望你们每个人都能参加这个活动，鼓励创意思维，充分发挥自己的</a:t>
            </a:r>
            <a:r>
              <a:rPr lang="en-US" altLang="zh-CN" b="1" dirty="0"/>
              <a:t>DIY</a:t>
            </a:r>
            <a:r>
              <a:rPr lang="zh-CN" altLang="zh-CN" b="1" dirty="0"/>
              <a:t>技能</a:t>
            </a:r>
            <a:r>
              <a:rPr lang="zh-CN" altLang="zh-CN" b="1" dirty="0" smtClean="0"/>
              <a:t>。</a:t>
            </a:r>
            <a:endParaRPr lang="en-US" altLang="zh-CN" b="1" dirty="0" smtClean="0"/>
          </a:p>
          <a:p>
            <a:pPr marL="0" indent="0">
              <a:buNone/>
            </a:pPr>
            <a:r>
              <a:rPr lang="en-US" altLang="zh-CN" b="1" dirty="0"/>
              <a:t> </a:t>
            </a:r>
            <a:r>
              <a:rPr lang="en-US" altLang="zh-CN" b="1" dirty="0" smtClean="0"/>
              <a:t>An </a:t>
            </a:r>
            <a:r>
              <a:rPr lang="en-US" altLang="zh-CN" b="1" dirty="0"/>
              <a:t>exciting event “ Innovations on Campus” is around the corner. Every one of you is expected to be part of the event which encourages creative minds and gives full play to your DIY skills.</a:t>
            </a:r>
            <a:endParaRPr lang="zh-CN" altLang="zh-CN" b="1" dirty="0"/>
          </a:p>
          <a:p>
            <a:r>
              <a:rPr lang="en-US" altLang="zh-CN" b="1" dirty="0"/>
              <a:t>24. </a:t>
            </a:r>
            <a:r>
              <a:rPr lang="zh-CN" altLang="zh-CN" b="1" dirty="0"/>
              <a:t>每位参赛队员都应该注意以下要求。</a:t>
            </a:r>
          </a:p>
          <a:p>
            <a:pPr marL="0" indent="0">
              <a:buNone/>
            </a:pPr>
            <a:r>
              <a:rPr lang="en-US" altLang="zh-CN" b="1" dirty="0"/>
              <a:t>Every competitor should pay attention to the following requirements.</a:t>
            </a:r>
            <a:endParaRPr lang="zh-CN" altLang="zh-CN" b="1" dirty="0"/>
          </a:p>
        </p:txBody>
      </p:sp>
    </p:spTree>
    <p:extLst>
      <p:ext uri="{BB962C8B-B14F-4D97-AF65-F5344CB8AC3E}">
        <p14:creationId xmlns:p14="http://schemas.microsoft.com/office/powerpoint/2010/main" val="200847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25.</a:t>
            </a:r>
            <a:r>
              <a:rPr lang="zh-CN" altLang="zh-CN" b="1" dirty="0"/>
              <a:t>我代表学生会呼吁全体同学能积极参加到这次</a:t>
            </a:r>
            <a:r>
              <a:rPr lang="en-US" altLang="zh-CN" b="1" dirty="0"/>
              <a:t>“</a:t>
            </a:r>
            <a:r>
              <a:rPr lang="zh-CN" altLang="zh-CN" b="1" dirty="0"/>
              <a:t>保护地球</a:t>
            </a:r>
            <a:r>
              <a:rPr lang="en-US" altLang="zh-CN" b="1" dirty="0"/>
              <a:t>”</a:t>
            </a:r>
            <a:r>
              <a:rPr lang="zh-CN" altLang="zh-CN" b="1" dirty="0"/>
              <a:t>的活动中来。</a:t>
            </a:r>
          </a:p>
          <a:p>
            <a:pPr marL="0" indent="0">
              <a:buNone/>
            </a:pPr>
            <a:r>
              <a:rPr lang="en-US" altLang="zh-CN" b="1" dirty="0"/>
              <a:t>On behalf of the Student Union</a:t>
            </a:r>
            <a:r>
              <a:rPr lang="en-US" altLang="zh-CN" b="1" dirty="0" smtClean="0"/>
              <a:t>, I </a:t>
            </a:r>
            <a:r>
              <a:rPr lang="en-US" altLang="zh-CN" b="1" dirty="0"/>
              <a:t>appeal to all the students to take an active part in the activity of Protecting the Earth.</a:t>
            </a:r>
            <a:endParaRPr lang="zh-CN" altLang="zh-CN" b="1" dirty="0"/>
          </a:p>
          <a:p>
            <a:r>
              <a:rPr lang="en-US" altLang="zh-CN" b="1" dirty="0"/>
              <a:t>26. </a:t>
            </a:r>
            <a:r>
              <a:rPr lang="zh-CN" altLang="zh-CN" b="1" dirty="0"/>
              <a:t>我校乒乓球队正在招收新队员</a:t>
            </a:r>
            <a:r>
              <a:rPr lang="en-US" altLang="zh-CN" b="1" dirty="0"/>
              <a:t>.</a:t>
            </a:r>
            <a:endParaRPr lang="zh-CN" altLang="zh-CN" b="1" dirty="0"/>
          </a:p>
          <a:p>
            <a:pPr marL="0" indent="0">
              <a:buNone/>
            </a:pPr>
            <a:r>
              <a:rPr lang="en-US" altLang="zh-CN" b="1" dirty="0"/>
              <a:t>The table tennis team of our school is recruiting new members/ players right now. </a:t>
            </a:r>
            <a:endParaRPr lang="zh-CN" altLang="zh-CN" b="1" dirty="0"/>
          </a:p>
          <a:p>
            <a:r>
              <a:rPr lang="en-US" altLang="zh-CN" b="1" dirty="0"/>
              <a:t>27. </a:t>
            </a:r>
            <a:r>
              <a:rPr lang="zh-CN" altLang="zh-CN" b="1" dirty="0"/>
              <a:t>期待您的积极参与</a:t>
            </a:r>
            <a:r>
              <a:rPr lang="zh-CN" altLang="zh-CN" b="1" dirty="0" smtClean="0"/>
              <a:t>。</a:t>
            </a:r>
            <a:endParaRPr lang="en-US" altLang="zh-CN" b="1" dirty="0" smtClean="0"/>
          </a:p>
          <a:p>
            <a:pPr marL="0" indent="0">
              <a:buNone/>
            </a:pPr>
            <a:r>
              <a:rPr lang="en-US" altLang="zh-CN" b="1" dirty="0" smtClean="0"/>
              <a:t>Looking </a:t>
            </a:r>
            <a:r>
              <a:rPr lang="en-US" altLang="zh-CN" b="1" dirty="0"/>
              <a:t>forward to your active participation.</a:t>
            </a:r>
            <a:endParaRPr lang="zh-CN" altLang="zh-CN" b="1" dirty="0"/>
          </a:p>
        </p:txBody>
      </p:sp>
    </p:spTree>
    <p:extLst>
      <p:ext uri="{BB962C8B-B14F-4D97-AF65-F5344CB8AC3E}">
        <p14:creationId xmlns:p14="http://schemas.microsoft.com/office/powerpoint/2010/main" val="37066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336704"/>
          </a:xfrm>
        </p:spPr>
        <p:txBody>
          <a:bodyPr>
            <a:normAutofit/>
          </a:bodyPr>
          <a:lstStyle/>
          <a:p>
            <a:r>
              <a:rPr lang="en-US" altLang="zh-CN" b="1" dirty="0"/>
              <a:t>28. </a:t>
            </a:r>
            <a:r>
              <a:rPr lang="zh-CN" altLang="zh-CN" b="1" dirty="0"/>
              <a:t>这部电影生动地展示了我们学校的快速发展，使我们的学生了解我们学校的历史</a:t>
            </a:r>
            <a:r>
              <a:rPr lang="zh-CN" altLang="zh-CN" b="1" dirty="0" smtClean="0"/>
              <a:t>。</a:t>
            </a:r>
            <a:endParaRPr lang="en-US" altLang="zh-CN" b="1" dirty="0" smtClean="0"/>
          </a:p>
          <a:p>
            <a:pPr marL="0" indent="0">
              <a:buNone/>
            </a:pPr>
            <a:r>
              <a:rPr lang="en-US" altLang="zh-CN" b="1" dirty="0" smtClean="0"/>
              <a:t>The </a:t>
            </a:r>
            <a:r>
              <a:rPr lang="en-US" altLang="zh-CN" b="1" dirty="0"/>
              <a:t>movie vividly shows the rapid development of our school, making the history of our school accessible to us students.</a:t>
            </a:r>
            <a:endParaRPr lang="zh-CN" altLang="zh-CN" b="1" dirty="0"/>
          </a:p>
          <a:p>
            <a:r>
              <a:rPr lang="en-US" altLang="zh-CN" b="1" dirty="0"/>
              <a:t>29. </a:t>
            </a:r>
            <a:r>
              <a:rPr lang="zh-CN" altLang="zh-CN" b="1" dirty="0"/>
              <a:t>这部电影让我们对我们学校的历史有了深刻的了解，它能唤起我们学校所有学生的自豪感</a:t>
            </a:r>
            <a:r>
              <a:rPr lang="zh-CN" altLang="zh-CN" b="1" dirty="0" smtClean="0"/>
              <a:t>。</a:t>
            </a:r>
            <a:endParaRPr lang="en-US" altLang="zh-CN" b="1" dirty="0" smtClean="0"/>
          </a:p>
          <a:p>
            <a:pPr marL="0" indent="0">
              <a:buNone/>
            </a:pPr>
            <a:r>
              <a:rPr lang="en-US" altLang="zh-CN" b="1" dirty="0" smtClean="0"/>
              <a:t>This </a:t>
            </a:r>
            <a:r>
              <a:rPr lang="en-US" altLang="zh-CN" b="1" dirty="0"/>
              <a:t>movie gives us fascinating insights into the history of our school, which can arouse the pride of all the students in our school.</a:t>
            </a:r>
            <a:endParaRPr lang="zh-CN" altLang="zh-CN" b="1" dirty="0"/>
          </a:p>
        </p:txBody>
      </p:sp>
    </p:spTree>
    <p:extLst>
      <p:ext uri="{BB962C8B-B14F-4D97-AF65-F5344CB8AC3E}">
        <p14:creationId xmlns:p14="http://schemas.microsoft.com/office/powerpoint/2010/main" val="161836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sz="4800" b="1" dirty="0" smtClean="0"/>
              <a:t>                      </a:t>
            </a:r>
            <a:r>
              <a:rPr lang="zh-CN" altLang="en-US" sz="4800" b="1" dirty="0" smtClean="0"/>
              <a:t>（二）</a:t>
            </a:r>
            <a:endParaRPr lang="en-US" altLang="zh-CN" sz="4800" b="1" dirty="0" smtClean="0"/>
          </a:p>
          <a:p>
            <a:pPr marL="0" indent="0">
              <a:buNone/>
            </a:pPr>
            <a:endParaRPr lang="en-US" altLang="zh-CN" sz="4800" b="1" dirty="0" smtClean="0"/>
          </a:p>
          <a:p>
            <a:pPr marL="0" indent="0" algn="ctr">
              <a:buNone/>
            </a:pPr>
            <a:r>
              <a:rPr lang="zh-CN" altLang="zh-CN" sz="4800" b="1" dirty="0"/>
              <a:t>邀请</a:t>
            </a:r>
            <a:r>
              <a:rPr lang="en-US" altLang="zh-CN" sz="4800" b="1" dirty="0"/>
              <a:t>, </a:t>
            </a:r>
            <a:r>
              <a:rPr lang="zh-CN" altLang="zh-CN" sz="4800" b="1" dirty="0"/>
              <a:t>请求，希望</a:t>
            </a:r>
            <a:endParaRPr lang="zh-CN" altLang="zh-CN" sz="4800" dirty="0"/>
          </a:p>
          <a:p>
            <a:pPr marL="0" indent="0">
              <a:buNone/>
            </a:pPr>
            <a:endParaRPr lang="zh-CN" altLang="zh-CN" sz="4800" dirty="0"/>
          </a:p>
          <a:p>
            <a:endParaRPr lang="zh-CN" altLang="en-US" sz="4800" dirty="0"/>
          </a:p>
        </p:txBody>
      </p:sp>
    </p:spTree>
    <p:extLst>
      <p:ext uri="{BB962C8B-B14F-4D97-AF65-F5344CB8AC3E}">
        <p14:creationId xmlns:p14="http://schemas.microsoft.com/office/powerpoint/2010/main" val="9573323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404664"/>
            <a:ext cx="8229600" cy="5721499"/>
          </a:xfrm>
        </p:spPr>
        <p:txBody>
          <a:bodyPr>
            <a:normAutofit/>
          </a:bodyPr>
          <a:lstStyle/>
          <a:p>
            <a:pPr marL="0" indent="0">
              <a:buNone/>
            </a:pPr>
            <a:r>
              <a:rPr lang="zh-CN" altLang="zh-CN" b="1" dirty="0" smtClean="0"/>
              <a:t>写作</a:t>
            </a:r>
            <a:r>
              <a:rPr lang="zh-CN" altLang="zh-CN" b="1" dirty="0"/>
              <a:t>特点：</a:t>
            </a:r>
          </a:p>
          <a:p>
            <a:r>
              <a:rPr lang="zh-CN" altLang="zh-CN" dirty="0"/>
              <a:t>邀请信包括宴会、舞会、晚餐、婚礼等各种邀请信件。要求叙事一定要清楚、明白</a:t>
            </a:r>
            <a:r>
              <a:rPr lang="zh-CN" altLang="zh-CN" dirty="0" smtClean="0"/>
              <a:t>，</a:t>
            </a:r>
            <a:endParaRPr lang="en-US" altLang="zh-CN" dirty="0" smtClean="0"/>
          </a:p>
          <a:p>
            <a:r>
              <a:rPr lang="zh-CN" altLang="zh-CN" dirty="0" smtClean="0"/>
              <a:t>要</a:t>
            </a:r>
            <a:r>
              <a:rPr lang="zh-CN" altLang="zh-CN" dirty="0"/>
              <a:t>写清楚三个方面的内容：</a:t>
            </a:r>
          </a:p>
          <a:p>
            <a:pPr marL="0" indent="0">
              <a:buNone/>
            </a:pPr>
            <a:r>
              <a:rPr lang="en-US" altLang="zh-CN" dirty="0"/>
              <a:t>Para1:</a:t>
            </a:r>
            <a:r>
              <a:rPr lang="zh-CN" altLang="zh-CN" dirty="0"/>
              <a:t>表明写作目的，发出邀请。</a:t>
            </a:r>
          </a:p>
          <a:p>
            <a:pPr marL="0" indent="0">
              <a:buNone/>
            </a:pPr>
            <a:r>
              <a:rPr lang="en-US" altLang="zh-CN" dirty="0"/>
              <a:t>Para 2</a:t>
            </a:r>
            <a:r>
              <a:rPr lang="zh-CN" altLang="zh-CN" dirty="0"/>
              <a:t>活动的具体</a:t>
            </a:r>
            <a:r>
              <a:rPr lang="zh-CN" altLang="zh-CN" dirty="0" smtClean="0"/>
              <a:t>内容（</a:t>
            </a:r>
            <a:r>
              <a:rPr lang="zh-CN" altLang="zh-CN" dirty="0"/>
              <a:t>时间地点，安排，可加受邀请人参加的意义或理由）</a:t>
            </a:r>
          </a:p>
          <a:p>
            <a:pPr marL="0" indent="0">
              <a:buNone/>
            </a:pPr>
            <a:r>
              <a:rPr lang="en-US" altLang="zh-CN" dirty="0"/>
              <a:t>Para 3</a:t>
            </a:r>
            <a:r>
              <a:rPr lang="zh-CN" altLang="zh-CN" dirty="0"/>
              <a:t>：表达愿望，期待回复。</a:t>
            </a:r>
          </a:p>
          <a:p>
            <a:pPr marL="0" indent="0">
              <a:buNone/>
            </a:pPr>
            <a:endParaRPr lang="zh-CN" altLang="en-US" dirty="0"/>
          </a:p>
        </p:txBody>
      </p:sp>
    </p:spTree>
    <p:extLst>
      <p:ext uri="{BB962C8B-B14F-4D97-AF65-F5344CB8AC3E}">
        <p14:creationId xmlns:p14="http://schemas.microsoft.com/office/powerpoint/2010/main" val="72436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476672"/>
            <a:ext cx="8229600" cy="5649491"/>
          </a:xfrm>
        </p:spPr>
        <p:txBody>
          <a:bodyPr/>
          <a:lstStyle/>
          <a:p>
            <a:r>
              <a:rPr lang="zh-CN" altLang="zh-CN" b="1" dirty="0"/>
              <a:t> </a:t>
            </a:r>
            <a:r>
              <a:rPr lang="en-US" altLang="zh-CN" b="1" dirty="0"/>
              <a:t>(</a:t>
            </a:r>
            <a:r>
              <a:rPr lang="zh-CN" altLang="zh-CN" b="1" dirty="0"/>
              <a:t>材料</a:t>
            </a:r>
            <a:r>
              <a:rPr lang="en-US" altLang="zh-CN" b="1" dirty="0"/>
              <a:t>) </a:t>
            </a:r>
            <a:r>
              <a:rPr lang="zh-CN" altLang="zh-CN" b="1" dirty="0"/>
              <a:t>假定你是李华，想邀请外教</a:t>
            </a:r>
            <a:r>
              <a:rPr lang="en-US" altLang="zh-CN" b="1" dirty="0"/>
              <a:t> Henry </a:t>
            </a:r>
            <a:r>
              <a:rPr lang="zh-CN" altLang="zh-CN" b="1" dirty="0"/>
              <a:t>一起参观中国剪纸</a:t>
            </a:r>
            <a:r>
              <a:rPr lang="en-US" altLang="zh-CN" b="1" dirty="0"/>
              <a:t>(paper-cutting)</a:t>
            </a:r>
            <a:r>
              <a:rPr lang="zh-CN" altLang="zh-CN" b="1" dirty="0"/>
              <a:t>艺术展。请给他写封邮件，内容包括：　　</a:t>
            </a:r>
          </a:p>
          <a:p>
            <a:pPr marL="0" indent="0">
              <a:buNone/>
            </a:pPr>
            <a:r>
              <a:rPr lang="en-US" altLang="zh-CN" b="1" dirty="0"/>
              <a:t>1. </a:t>
            </a:r>
            <a:r>
              <a:rPr lang="zh-CN" altLang="zh-CN" b="1" dirty="0"/>
              <a:t>展览时间、地点</a:t>
            </a:r>
            <a:r>
              <a:rPr lang="en-US" altLang="zh-CN" b="1" dirty="0"/>
              <a:t>;</a:t>
            </a:r>
            <a:r>
              <a:rPr lang="zh-CN" altLang="zh-CN" b="1" dirty="0"/>
              <a:t>　</a:t>
            </a:r>
            <a:r>
              <a:rPr lang="en-US" altLang="zh-CN" b="1" dirty="0" smtClean="0"/>
              <a:t>2</a:t>
            </a:r>
            <a:r>
              <a:rPr lang="en-US" altLang="zh-CN" b="1" dirty="0"/>
              <a:t>. </a:t>
            </a:r>
            <a:r>
              <a:rPr lang="zh-CN" altLang="zh-CN" b="1" dirty="0"/>
              <a:t>展览内容。</a:t>
            </a:r>
          </a:p>
          <a:p>
            <a:r>
              <a:rPr lang="zh-CN" altLang="zh-CN" b="1" dirty="0"/>
              <a:t>注意：　　</a:t>
            </a:r>
            <a:endParaRPr lang="en-US" altLang="zh-CN" b="1" dirty="0" smtClean="0"/>
          </a:p>
          <a:p>
            <a:pPr marL="0" indent="0">
              <a:buNone/>
            </a:pPr>
            <a:r>
              <a:rPr lang="en-US" altLang="zh-CN" b="1" dirty="0" smtClean="0"/>
              <a:t>1. </a:t>
            </a:r>
            <a:r>
              <a:rPr lang="zh-CN" altLang="zh-CN" b="1" dirty="0"/>
              <a:t>词数</a:t>
            </a:r>
            <a:r>
              <a:rPr lang="en-US" altLang="zh-CN" b="1" dirty="0"/>
              <a:t>100</a:t>
            </a:r>
            <a:r>
              <a:rPr lang="zh-CN" altLang="zh-CN" b="1" dirty="0"/>
              <a:t>左右</a:t>
            </a:r>
            <a:r>
              <a:rPr lang="en-US" altLang="zh-CN" b="1" dirty="0"/>
              <a:t>;</a:t>
            </a:r>
            <a:r>
              <a:rPr lang="zh-CN" altLang="zh-CN" b="1" dirty="0"/>
              <a:t>　　</a:t>
            </a:r>
            <a:r>
              <a:rPr lang="en-US" altLang="zh-CN" b="1" dirty="0"/>
              <a:t>  </a:t>
            </a:r>
            <a:endParaRPr lang="en-US" altLang="zh-CN" b="1" dirty="0" smtClean="0"/>
          </a:p>
          <a:p>
            <a:pPr marL="0" indent="0">
              <a:buNone/>
            </a:pPr>
            <a:r>
              <a:rPr lang="en-US" altLang="zh-CN" b="1" dirty="0" smtClean="0"/>
              <a:t>2</a:t>
            </a:r>
            <a:r>
              <a:rPr lang="en-US" altLang="zh-CN" b="1" dirty="0"/>
              <a:t>. </a:t>
            </a:r>
            <a:r>
              <a:rPr lang="zh-CN" altLang="zh-CN" b="1" dirty="0"/>
              <a:t>可以适当增加细节，已使行文连贯。</a:t>
            </a:r>
            <a:endParaRPr lang="zh-CN" altLang="en-US" b="1" dirty="0"/>
          </a:p>
        </p:txBody>
      </p:sp>
    </p:spTree>
    <p:extLst>
      <p:ext uri="{BB962C8B-B14F-4D97-AF65-F5344CB8AC3E}">
        <p14:creationId xmlns:p14="http://schemas.microsoft.com/office/powerpoint/2010/main" val="7610788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95536" y="188640"/>
            <a:ext cx="8424936" cy="6669360"/>
          </a:xfrm>
        </p:spPr>
        <p:txBody>
          <a:bodyPr>
            <a:normAutofit fontScale="77500" lnSpcReduction="20000"/>
          </a:bodyPr>
          <a:lstStyle/>
          <a:p>
            <a:pPr marL="0" indent="0">
              <a:buNone/>
            </a:pPr>
            <a:r>
              <a:rPr lang="zh-CN" altLang="en-US" b="1" dirty="0" smtClean="0"/>
              <a:t>邀请信</a:t>
            </a:r>
            <a:r>
              <a:rPr lang="zh-CN" altLang="zh-CN" b="1" dirty="0" smtClean="0"/>
              <a:t>范文</a:t>
            </a:r>
            <a:r>
              <a:rPr lang="en-US" altLang="zh-CN" b="1" dirty="0" smtClean="0"/>
              <a:t>:</a:t>
            </a:r>
            <a:endParaRPr lang="en-US" altLang="zh-CN" dirty="0"/>
          </a:p>
          <a:p>
            <a:pPr marL="0" indent="0" algn="just">
              <a:buNone/>
            </a:pPr>
            <a:r>
              <a:rPr lang="en-US" altLang="zh-CN" dirty="0" smtClean="0"/>
              <a:t>Dear</a:t>
            </a:r>
            <a:r>
              <a:rPr lang="en-US" altLang="zh-CN" dirty="0"/>
              <a:t> Henry</a:t>
            </a:r>
            <a:r>
              <a:rPr lang="zh-CN" altLang="zh-CN" dirty="0"/>
              <a:t>，</a:t>
            </a:r>
            <a:r>
              <a:rPr lang="en-US" altLang="zh-CN" dirty="0"/>
              <a:t> </a:t>
            </a:r>
            <a:endParaRPr lang="zh-CN" altLang="zh-CN" dirty="0"/>
          </a:p>
          <a:p>
            <a:pPr marL="0" indent="0" algn="just">
              <a:buNone/>
            </a:pPr>
            <a:r>
              <a:rPr lang="en-US" altLang="zh-CN" dirty="0" smtClean="0"/>
              <a:t>         I've </a:t>
            </a:r>
            <a:r>
              <a:rPr lang="en-US" altLang="zh-CN" dirty="0"/>
              <a:t>got great news for you</a:t>
            </a:r>
            <a:r>
              <a:rPr lang="en-US" altLang="zh-CN" dirty="0" smtClean="0"/>
              <a:t>. There </a:t>
            </a:r>
            <a:r>
              <a:rPr lang="en-US" altLang="zh-CN" dirty="0"/>
              <a:t>will be an art exhibition on Chinese paper-cutting this month. Since you are enthusiastic about Chinese culture, I’d like to invite you to attend the exhibition with me.</a:t>
            </a:r>
            <a:endParaRPr lang="zh-CN" altLang="zh-CN" dirty="0"/>
          </a:p>
          <a:p>
            <a:pPr marL="0" indent="0" algn="just">
              <a:buNone/>
            </a:pPr>
            <a:r>
              <a:rPr lang="en-US" altLang="zh-CN" dirty="0"/>
              <a:t> </a:t>
            </a:r>
            <a:r>
              <a:rPr lang="en-US" altLang="zh-CN" dirty="0" smtClean="0"/>
              <a:t>       The </a:t>
            </a:r>
            <a:r>
              <a:rPr lang="en-US" altLang="zh-CN" dirty="0"/>
              <a:t>exhibition is scheduled to start from June 6 and last for a week in the City Museum.  Featuring Chinese paper-cutting, the exhibition will not only show a large number of excellent paper-cuts created by experts throughout China, but also present to us the history and development of paper-cutting in China. Visiting the exhibition, we will </a:t>
            </a:r>
            <a:r>
              <a:rPr lang="en-US" altLang="zh-CN" dirty="0" smtClean="0"/>
              <a:t>broaden </a:t>
            </a:r>
            <a:r>
              <a:rPr lang="en-US" altLang="zh-CN" dirty="0"/>
              <a:t>our horizons as well as have a good knowledge of this marvelous classical art form</a:t>
            </a:r>
            <a:r>
              <a:rPr lang="en-US" altLang="zh-CN" dirty="0" smtClean="0"/>
              <a:t>. I </a:t>
            </a:r>
            <a:r>
              <a:rPr lang="en-US" altLang="zh-CN" dirty="0"/>
              <a:t>am convinced you will enjoy it. </a:t>
            </a:r>
          </a:p>
          <a:p>
            <a:pPr marL="0" indent="0" algn="just">
              <a:buNone/>
            </a:pPr>
            <a:r>
              <a:rPr lang="en-US" altLang="zh-CN" dirty="0"/>
              <a:t> </a:t>
            </a:r>
            <a:r>
              <a:rPr lang="en-US" altLang="zh-CN" dirty="0" smtClean="0"/>
              <a:t>    We</a:t>
            </a:r>
            <a:r>
              <a:rPr lang="en-US" altLang="zh-CN" dirty="0"/>
              <a:t> can make it any day to visit the exhibition. Looking forward to your reply at your earliest convenience.</a:t>
            </a:r>
            <a:endParaRPr lang="zh-CN" altLang="zh-CN" dirty="0"/>
          </a:p>
          <a:p>
            <a:pPr marL="0" indent="0" algn="just">
              <a:buNone/>
            </a:pPr>
            <a:r>
              <a:rPr lang="en-US" altLang="zh-CN" dirty="0" smtClean="0"/>
              <a:t>                                                                                  Yours</a:t>
            </a:r>
            <a:r>
              <a:rPr lang="en-US" altLang="zh-CN" dirty="0"/>
              <a:t>, </a:t>
            </a:r>
            <a:endParaRPr lang="zh-CN" altLang="zh-CN" dirty="0"/>
          </a:p>
          <a:p>
            <a:pPr marL="0" indent="0" algn="just">
              <a:buNone/>
            </a:pPr>
            <a:r>
              <a:rPr lang="en-US" altLang="zh-CN" dirty="0" smtClean="0"/>
              <a:t>                                                                                 </a:t>
            </a:r>
            <a:r>
              <a:rPr lang="en-US" altLang="zh-CN" dirty="0" err="1" smtClean="0"/>
              <a:t>Lihua</a:t>
            </a:r>
            <a:endParaRPr lang="zh-CN" altLang="zh-CN" dirty="0"/>
          </a:p>
        </p:txBody>
      </p:sp>
    </p:spTree>
    <p:extLst>
      <p:ext uri="{BB962C8B-B14F-4D97-AF65-F5344CB8AC3E}">
        <p14:creationId xmlns:p14="http://schemas.microsoft.com/office/powerpoint/2010/main" val="10659198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fontScale="92500" lnSpcReduction="10000"/>
          </a:bodyPr>
          <a:lstStyle/>
          <a:p>
            <a:r>
              <a:rPr lang="en-US" altLang="zh-CN" b="1" dirty="0"/>
              <a:t>1. </a:t>
            </a:r>
            <a:r>
              <a:rPr lang="zh-CN" altLang="zh-CN" b="1" dirty="0"/>
              <a:t>我很高兴能代表学生会告诉你我们学校将于本周六我校将举办主题为</a:t>
            </a:r>
            <a:r>
              <a:rPr lang="en-US" altLang="zh-CN" b="1" dirty="0"/>
              <a:t>“</a:t>
            </a:r>
            <a:r>
              <a:rPr lang="zh-CN" altLang="zh-CN" b="1" dirty="0"/>
              <a:t>中国国粹</a:t>
            </a:r>
            <a:r>
              <a:rPr lang="en-US" altLang="zh-CN" b="1" dirty="0"/>
              <a:t>--</a:t>
            </a:r>
            <a:r>
              <a:rPr lang="zh-CN" altLang="zh-CN" b="1" dirty="0"/>
              <a:t>京剧</a:t>
            </a:r>
            <a:r>
              <a:rPr lang="en-US" altLang="zh-CN" b="1" dirty="0"/>
              <a:t>”</a:t>
            </a:r>
            <a:r>
              <a:rPr lang="zh-CN" altLang="zh-CN" b="1" dirty="0"/>
              <a:t>的宣传活动。如果你能来参加我们将十分荣幸。</a:t>
            </a:r>
          </a:p>
          <a:p>
            <a:pPr marL="0" indent="0">
              <a:buNone/>
            </a:pPr>
            <a:r>
              <a:rPr lang="en-US" altLang="zh-CN" b="1" dirty="0" smtClean="0"/>
              <a:t>On </a:t>
            </a:r>
            <a:r>
              <a:rPr lang="en-US" altLang="zh-CN" b="1" dirty="0"/>
              <a:t>behalf of the student union, I'm delighted to tell you that an activity with the theme of Chinese Peking Opera will be held on Saturday. We would be honored if you could come and join us.</a:t>
            </a:r>
            <a:endParaRPr lang="zh-CN" altLang="zh-CN" b="1" dirty="0"/>
          </a:p>
          <a:p>
            <a:r>
              <a:rPr lang="en-US" altLang="zh-CN" b="1" dirty="0"/>
              <a:t>2. </a:t>
            </a:r>
            <a:r>
              <a:rPr lang="zh-CN" altLang="zh-CN" b="1" dirty="0"/>
              <a:t>我们想邀请您担任英语演讲比赛的评委</a:t>
            </a:r>
            <a:r>
              <a:rPr lang="en-US" altLang="zh-CN" b="1" dirty="0"/>
              <a:t>.</a:t>
            </a:r>
            <a:endParaRPr lang="zh-CN" altLang="zh-CN" b="1" dirty="0"/>
          </a:p>
          <a:p>
            <a:pPr marL="0" indent="0">
              <a:buNone/>
            </a:pPr>
            <a:r>
              <a:rPr lang="en-US" altLang="zh-CN" b="1" dirty="0"/>
              <a:t>We wondered if you could serve as a judge of the English speech contest.</a:t>
            </a:r>
            <a:endParaRPr lang="zh-CN" altLang="zh-CN" b="1" dirty="0"/>
          </a:p>
          <a:p>
            <a:pPr marL="0" indent="0">
              <a:buNone/>
            </a:pPr>
            <a:r>
              <a:rPr lang="en-US" altLang="zh-CN" b="1" dirty="0"/>
              <a:t>Would you be so kind as to serve as a judge of the English speech contest?</a:t>
            </a:r>
            <a:endParaRPr lang="zh-CN" altLang="zh-CN" b="1" dirty="0"/>
          </a:p>
        </p:txBody>
      </p:sp>
    </p:spTree>
    <p:extLst>
      <p:ext uri="{BB962C8B-B14F-4D97-AF65-F5344CB8AC3E}">
        <p14:creationId xmlns:p14="http://schemas.microsoft.com/office/powerpoint/2010/main" val="3166651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a:bodyPr>
          <a:lstStyle/>
          <a:p>
            <a:r>
              <a:rPr lang="en-US" altLang="zh-CN" b="1" dirty="0"/>
              <a:t>3.</a:t>
            </a:r>
            <a:r>
              <a:rPr lang="zh-CN" altLang="zh-CN" b="1" dirty="0"/>
              <a:t>得知你对中国文化十分感兴趣，我想邀请你参加这个活动</a:t>
            </a:r>
          </a:p>
          <a:p>
            <a:pPr marL="0" indent="0">
              <a:buNone/>
            </a:pPr>
            <a:r>
              <a:rPr lang="en-US" altLang="zh-CN" b="1" dirty="0"/>
              <a:t>Learning that you are enthusiastic about Chinese culture, I would like to invite you to participate in the activity.</a:t>
            </a:r>
            <a:endParaRPr lang="zh-CN" altLang="zh-CN" b="1" dirty="0"/>
          </a:p>
          <a:p>
            <a:r>
              <a:rPr lang="en-US" altLang="zh-CN" b="1" dirty="0"/>
              <a:t>4.</a:t>
            </a:r>
            <a:r>
              <a:rPr lang="zh-CN" altLang="zh-CN" b="1" dirty="0"/>
              <a:t>如果你能接受我的邀请，请在你方便时告诉我。</a:t>
            </a:r>
          </a:p>
          <a:p>
            <a:pPr marL="0" indent="0">
              <a:buNone/>
            </a:pPr>
            <a:r>
              <a:rPr lang="en-US" altLang="zh-CN" b="1" dirty="0"/>
              <a:t>Would you please let me know if you can accept </a:t>
            </a:r>
            <a:r>
              <a:rPr lang="en-US" altLang="zh-CN" b="1" dirty="0" smtClean="0"/>
              <a:t>my invitation </a:t>
            </a:r>
            <a:r>
              <a:rPr lang="en-US" altLang="zh-CN" b="1" dirty="0"/>
              <a:t>at your earliest convenience?</a:t>
            </a:r>
            <a:r>
              <a:rPr lang="zh-CN" altLang="zh-CN" b="1" dirty="0"/>
              <a:t> </a:t>
            </a:r>
            <a:r>
              <a:rPr lang="en-US" altLang="zh-CN" b="1" dirty="0"/>
              <a:t> </a:t>
            </a:r>
            <a:endParaRPr lang="zh-CN" altLang="zh-CN" b="1" dirty="0"/>
          </a:p>
        </p:txBody>
      </p:sp>
    </p:spTree>
    <p:extLst>
      <p:ext uri="{BB962C8B-B14F-4D97-AF65-F5344CB8AC3E}">
        <p14:creationId xmlns:p14="http://schemas.microsoft.com/office/powerpoint/2010/main" val="33272887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260648"/>
            <a:ext cx="8229600" cy="5865515"/>
          </a:xfrm>
        </p:spPr>
        <p:txBody>
          <a:bodyPr>
            <a:normAutofit lnSpcReduction="10000"/>
          </a:bodyPr>
          <a:lstStyle/>
          <a:p>
            <a:r>
              <a:rPr lang="en-US" altLang="zh-CN" b="1" dirty="0"/>
              <a:t>5. </a:t>
            </a:r>
            <a:r>
              <a:rPr lang="zh-CN" altLang="zh-CN" b="1" dirty="0"/>
              <a:t>在你在此停留期间我会为你</a:t>
            </a:r>
            <a:r>
              <a:rPr lang="zh-CN" altLang="zh-CN" b="1" dirty="0" smtClean="0"/>
              <a:t>安排食宿</a:t>
            </a:r>
            <a:r>
              <a:rPr lang="zh-CN" altLang="en-US" b="1" dirty="0" smtClean="0"/>
              <a:t>。</a:t>
            </a:r>
            <a:endParaRPr lang="en-US" altLang="zh-CN" b="1" dirty="0" smtClean="0"/>
          </a:p>
          <a:p>
            <a:pPr marL="0" indent="0">
              <a:buNone/>
            </a:pPr>
            <a:r>
              <a:rPr lang="en-US" altLang="zh-CN" b="1" dirty="0" smtClean="0"/>
              <a:t>I </a:t>
            </a:r>
            <a:r>
              <a:rPr lang="en-US" altLang="zh-CN" b="1" dirty="0"/>
              <a:t>will arrange accommodations for you during your stay here.</a:t>
            </a:r>
            <a:endParaRPr lang="zh-CN" altLang="zh-CN" b="1" dirty="0"/>
          </a:p>
          <a:p>
            <a:r>
              <a:rPr lang="en-US" altLang="zh-CN" b="1" dirty="0"/>
              <a:t>6. </a:t>
            </a:r>
            <a:r>
              <a:rPr lang="zh-CN" altLang="zh-CN" b="1" dirty="0"/>
              <a:t>我深信在你的指导下，我们一定会取得很大的</a:t>
            </a:r>
            <a:r>
              <a:rPr lang="zh-CN" altLang="zh-CN" b="1" dirty="0" smtClean="0"/>
              <a:t>进步</a:t>
            </a:r>
            <a:r>
              <a:rPr lang="zh-CN" altLang="en-US" b="1" dirty="0" smtClean="0"/>
              <a:t>。</a:t>
            </a:r>
            <a:endParaRPr lang="en-US" altLang="zh-CN" b="1" dirty="0" smtClean="0"/>
          </a:p>
          <a:p>
            <a:pPr marL="0" indent="0">
              <a:buNone/>
            </a:pPr>
            <a:r>
              <a:rPr lang="en-US" altLang="zh-CN" b="1" dirty="0" smtClean="0"/>
              <a:t>I’m </a:t>
            </a:r>
            <a:r>
              <a:rPr lang="en-US" altLang="zh-CN" b="1" dirty="0"/>
              <a:t>firmly convinced that we are sure to make great progress under your guidance/with your help.</a:t>
            </a:r>
            <a:endParaRPr lang="zh-CN" altLang="zh-CN" b="1" dirty="0"/>
          </a:p>
          <a:p>
            <a:r>
              <a:rPr lang="en-US" altLang="zh-CN" b="1" dirty="0"/>
              <a:t>7. </a:t>
            </a:r>
            <a:r>
              <a:rPr lang="zh-CN" altLang="zh-CN" b="1" dirty="0"/>
              <a:t>如果您能尽早给我答复，我将不胜感激</a:t>
            </a:r>
            <a:r>
              <a:rPr lang="zh-CN" altLang="zh-CN" b="1" dirty="0" smtClean="0"/>
              <a:t>。</a:t>
            </a:r>
            <a:endParaRPr lang="en-US" altLang="zh-CN" b="1" dirty="0" smtClean="0"/>
          </a:p>
          <a:p>
            <a:pPr marL="0" indent="0">
              <a:buNone/>
            </a:pPr>
            <a:r>
              <a:rPr lang="en-US" altLang="zh-CN" b="1" dirty="0" smtClean="0"/>
              <a:t>I </a:t>
            </a:r>
            <a:r>
              <a:rPr lang="en-US" altLang="zh-CN" b="1" dirty="0"/>
              <a:t>would appreciate it if you could reply to me at your earliest convenience.</a:t>
            </a:r>
            <a:endParaRPr lang="zh-CN" altLang="zh-CN" b="1" dirty="0"/>
          </a:p>
        </p:txBody>
      </p:sp>
    </p:spTree>
    <p:extLst>
      <p:ext uri="{BB962C8B-B14F-4D97-AF65-F5344CB8AC3E}">
        <p14:creationId xmlns:p14="http://schemas.microsoft.com/office/powerpoint/2010/main" val="179632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95536" y="188640"/>
            <a:ext cx="8229600" cy="5865515"/>
          </a:xfrm>
        </p:spPr>
        <p:txBody>
          <a:bodyPr>
            <a:normAutofit lnSpcReduction="10000"/>
          </a:bodyPr>
          <a:lstStyle/>
          <a:p>
            <a:r>
              <a:rPr lang="en-US" altLang="zh-CN" b="1" dirty="0"/>
              <a:t>8. </a:t>
            </a:r>
            <a:r>
              <a:rPr lang="zh-CN" altLang="zh-CN" b="1" dirty="0"/>
              <a:t>你方便这个周五下午</a:t>
            </a:r>
            <a:r>
              <a:rPr lang="en-US" altLang="zh-CN" b="1" dirty="0"/>
              <a:t>4</a:t>
            </a:r>
            <a:r>
              <a:rPr lang="zh-CN" altLang="zh-CN" b="1" dirty="0"/>
              <a:t>点我们见一面么</a:t>
            </a:r>
            <a:r>
              <a:rPr lang="zh-CN" altLang="zh-CN" b="1" dirty="0" smtClean="0"/>
              <a:t>？</a:t>
            </a:r>
            <a:endParaRPr lang="en-US" altLang="zh-CN" b="1" dirty="0" smtClean="0"/>
          </a:p>
          <a:p>
            <a:pPr marL="0" indent="0">
              <a:buNone/>
            </a:pPr>
            <a:r>
              <a:rPr lang="en-US" altLang="zh-CN" b="1" dirty="0" smtClean="0"/>
              <a:t>Would </a:t>
            </a:r>
            <a:r>
              <a:rPr lang="en-US" altLang="zh-CN" b="1" dirty="0"/>
              <a:t>it be convenient for you to get together with me at 4 pm this Friday?</a:t>
            </a:r>
            <a:endParaRPr lang="zh-CN" altLang="zh-CN" b="1" dirty="0"/>
          </a:p>
          <a:p>
            <a:r>
              <a:rPr lang="en-US" altLang="zh-CN" b="1" dirty="0"/>
              <a:t>9. </a:t>
            </a:r>
            <a:r>
              <a:rPr lang="zh-CN" altLang="zh-CN" b="1" dirty="0"/>
              <a:t>你今天下午和我们一起去上街购物怎么样</a:t>
            </a:r>
            <a:r>
              <a:rPr lang="zh-CN" altLang="zh-CN" b="1" dirty="0" smtClean="0"/>
              <a:t>？</a:t>
            </a:r>
            <a:endParaRPr lang="en-US" altLang="zh-CN" b="1" dirty="0" smtClean="0"/>
          </a:p>
          <a:p>
            <a:pPr marL="0" indent="0">
              <a:buNone/>
            </a:pPr>
            <a:r>
              <a:rPr lang="en-US" altLang="zh-CN" b="1" dirty="0" smtClean="0"/>
              <a:t>Would </a:t>
            </a:r>
            <a:r>
              <a:rPr lang="en-US" altLang="zh-CN" b="1" dirty="0"/>
              <a:t>you like to go downtown to do some shopping with us this afternoon?</a:t>
            </a:r>
            <a:endParaRPr lang="zh-CN" altLang="zh-CN" b="1" dirty="0"/>
          </a:p>
          <a:p>
            <a:r>
              <a:rPr lang="en-US" altLang="zh-CN" b="1" dirty="0"/>
              <a:t>10. </a:t>
            </a:r>
            <a:r>
              <a:rPr lang="zh-CN" altLang="zh-CN" b="1" dirty="0"/>
              <a:t>除了教学，你还要担任我们学生英语俱乐部的顾问。</a:t>
            </a:r>
          </a:p>
          <a:p>
            <a:pPr marL="0" indent="0">
              <a:buNone/>
            </a:pPr>
            <a:r>
              <a:rPr lang="en-US" altLang="zh-CN" b="1" dirty="0"/>
              <a:t>In addition to teaching, you are expected to be an advisor of our Student English Club and English School Newspaper.</a:t>
            </a:r>
            <a:endParaRPr lang="zh-CN" altLang="zh-CN" b="1" dirty="0"/>
          </a:p>
        </p:txBody>
      </p:sp>
    </p:spTree>
    <p:extLst>
      <p:ext uri="{BB962C8B-B14F-4D97-AF65-F5344CB8AC3E}">
        <p14:creationId xmlns:p14="http://schemas.microsoft.com/office/powerpoint/2010/main" val="1525111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260648"/>
            <a:ext cx="8229600" cy="5865515"/>
          </a:xfrm>
        </p:spPr>
        <p:txBody>
          <a:bodyPr>
            <a:normAutofit/>
          </a:bodyPr>
          <a:lstStyle/>
          <a:p>
            <a:r>
              <a:rPr lang="en-US" altLang="zh-CN" b="1" dirty="0"/>
              <a:t>11. </a:t>
            </a:r>
            <a:r>
              <a:rPr lang="zh-CN" altLang="zh-CN" b="1" dirty="0"/>
              <a:t>为了庆祝她的生日我们计划开个舞会</a:t>
            </a:r>
            <a:r>
              <a:rPr lang="zh-CN" altLang="zh-CN" b="1" dirty="0" smtClean="0"/>
              <a:t>。</a:t>
            </a:r>
            <a:endParaRPr lang="en-US" altLang="zh-CN" b="1" dirty="0" smtClean="0"/>
          </a:p>
          <a:p>
            <a:pPr marL="0" indent="0">
              <a:buNone/>
            </a:pPr>
            <a:r>
              <a:rPr lang="en-US" altLang="zh-CN" b="1" dirty="0" smtClean="0"/>
              <a:t>We </a:t>
            </a:r>
            <a:r>
              <a:rPr lang="en-US" altLang="zh-CN" b="1" dirty="0"/>
              <a:t>intend to throw a party in honor of her birthday. </a:t>
            </a:r>
            <a:endParaRPr lang="zh-CN" altLang="zh-CN" b="1" dirty="0"/>
          </a:p>
          <a:p>
            <a:r>
              <a:rPr lang="en-US" altLang="zh-CN" b="1" dirty="0"/>
              <a:t>12. </a:t>
            </a:r>
            <a:r>
              <a:rPr lang="zh-CN" altLang="zh-CN" b="1" dirty="0"/>
              <a:t>包括你在内总计将有五人将代表学校参加这次全国诗词大赛</a:t>
            </a:r>
            <a:r>
              <a:rPr lang="en-US" altLang="zh-CN" b="1" dirty="0"/>
              <a:t>.</a:t>
            </a:r>
            <a:endParaRPr lang="zh-CN" altLang="zh-CN" b="1" dirty="0"/>
          </a:p>
          <a:p>
            <a:pPr marL="0" indent="0">
              <a:buNone/>
            </a:pPr>
            <a:r>
              <a:rPr lang="en-US" altLang="zh-CN" b="1" dirty="0"/>
              <a:t>A total of five people, including you/you included, will represent the school in the national poetry competition. /will participate in the national poetry competition on behalf of our school.</a:t>
            </a:r>
            <a:endParaRPr lang="zh-CN" altLang="zh-CN" b="1" dirty="0"/>
          </a:p>
        </p:txBody>
      </p:sp>
    </p:spTree>
    <p:extLst>
      <p:ext uri="{BB962C8B-B14F-4D97-AF65-F5344CB8AC3E}">
        <p14:creationId xmlns:p14="http://schemas.microsoft.com/office/powerpoint/2010/main" val="86361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lnSpcReduction="10000"/>
          </a:bodyPr>
          <a:lstStyle/>
          <a:p>
            <a:r>
              <a:rPr lang="en-US" altLang="zh-CN" b="1" dirty="0"/>
              <a:t>13. </a:t>
            </a:r>
            <a:r>
              <a:rPr lang="zh-CN" altLang="zh-CN" b="1" dirty="0"/>
              <a:t>我很高兴告知你关于下周去黄鹤楼之行的安排</a:t>
            </a:r>
            <a:r>
              <a:rPr lang="zh-CN" altLang="zh-CN" b="1" dirty="0" smtClean="0"/>
              <a:t>。</a:t>
            </a:r>
            <a:endParaRPr lang="en-US" altLang="zh-CN" b="1" dirty="0" smtClean="0"/>
          </a:p>
          <a:p>
            <a:pPr marL="0" indent="0">
              <a:buNone/>
            </a:pPr>
            <a:r>
              <a:rPr lang="en-US" altLang="zh-CN" b="1" dirty="0" smtClean="0"/>
              <a:t>It’s </a:t>
            </a:r>
            <a:r>
              <a:rPr lang="en-US" altLang="zh-CN" b="1" dirty="0"/>
              <a:t>my pleasure to inform you of the arrangements for the trip to the Yellow Crane Tower next week.  </a:t>
            </a:r>
            <a:endParaRPr lang="zh-CN" altLang="zh-CN" b="1" dirty="0"/>
          </a:p>
          <a:p>
            <a:r>
              <a:rPr lang="en-US" altLang="zh-CN" b="1" dirty="0"/>
              <a:t>14. </a:t>
            </a:r>
            <a:r>
              <a:rPr lang="zh-CN" altLang="zh-CN" b="1" dirty="0"/>
              <a:t>我真诚的希望你能接受我的邀请</a:t>
            </a:r>
            <a:r>
              <a:rPr lang="zh-CN" altLang="zh-CN" b="1" dirty="0" smtClean="0"/>
              <a:t>。</a:t>
            </a:r>
            <a:endParaRPr lang="en-US" altLang="zh-CN" b="1" dirty="0" smtClean="0"/>
          </a:p>
          <a:p>
            <a:pPr marL="0" indent="0">
              <a:buNone/>
            </a:pPr>
            <a:r>
              <a:rPr lang="en-US" altLang="zh-CN" b="1" dirty="0" smtClean="0"/>
              <a:t>I </a:t>
            </a:r>
            <a:r>
              <a:rPr lang="en-US" altLang="zh-CN" b="1" dirty="0"/>
              <a:t>sincerely hope you can accept my invitation.</a:t>
            </a:r>
            <a:endParaRPr lang="zh-CN" altLang="zh-CN" b="1" dirty="0"/>
          </a:p>
          <a:p>
            <a:r>
              <a:rPr lang="en-US" altLang="zh-CN" b="1" dirty="0"/>
              <a:t>15. </a:t>
            </a:r>
            <a:r>
              <a:rPr lang="zh-CN" altLang="zh-CN" b="1" dirty="0"/>
              <a:t>如果你下周一有空的话，那我们就把时间定在上午</a:t>
            </a:r>
            <a:r>
              <a:rPr lang="en-US" altLang="zh-CN" b="1" dirty="0"/>
              <a:t>8:30</a:t>
            </a:r>
            <a:r>
              <a:rPr lang="zh-CN" altLang="zh-CN" b="1" dirty="0"/>
              <a:t>吧。</a:t>
            </a:r>
          </a:p>
          <a:p>
            <a:pPr marL="0" indent="0">
              <a:buNone/>
            </a:pPr>
            <a:r>
              <a:rPr lang="en-US" altLang="zh-CN" b="1" dirty="0"/>
              <a:t>If you are available next Monday, let’s make it 8:30 am.</a:t>
            </a:r>
            <a:endParaRPr lang="zh-CN" altLang="zh-CN" b="1" dirty="0"/>
          </a:p>
        </p:txBody>
      </p:sp>
    </p:spTree>
    <p:extLst>
      <p:ext uri="{BB962C8B-B14F-4D97-AF65-F5344CB8AC3E}">
        <p14:creationId xmlns:p14="http://schemas.microsoft.com/office/powerpoint/2010/main" val="123310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60648"/>
            <a:ext cx="8229600" cy="5865515"/>
          </a:xfrm>
        </p:spPr>
        <p:txBody>
          <a:bodyPr>
            <a:normAutofit/>
          </a:bodyPr>
          <a:lstStyle/>
          <a:p>
            <a:r>
              <a:rPr lang="en-US" altLang="zh-CN" b="1" dirty="0"/>
              <a:t>16. </a:t>
            </a:r>
            <a:r>
              <a:rPr lang="zh-CN" altLang="zh-CN" b="1" dirty="0"/>
              <a:t>如果你能来参加展览会，请回信告知我一声好吗？</a:t>
            </a:r>
          </a:p>
          <a:p>
            <a:pPr marL="0" indent="0">
              <a:buNone/>
            </a:pPr>
            <a:r>
              <a:rPr lang="en-US" altLang="zh-CN" b="1" dirty="0"/>
              <a:t>Would you please drop me a line to let me know if you can come to the </a:t>
            </a:r>
            <a:r>
              <a:rPr lang="en-US" altLang="zh-CN" b="1" dirty="0" smtClean="0"/>
              <a:t>exhibition?</a:t>
            </a:r>
            <a:endParaRPr lang="zh-CN" altLang="zh-CN" b="1" dirty="0"/>
          </a:p>
          <a:p>
            <a:r>
              <a:rPr lang="en-US" altLang="zh-CN" b="1" dirty="0"/>
              <a:t>17.</a:t>
            </a:r>
            <a:r>
              <a:rPr lang="zh-CN" altLang="zh-CN" b="1" dirty="0"/>
              <a:t>我相信你会喜欢这个活动，因为它不但有益、有趣，还有教育意义。</a:t>
            </a:r>
          </a:p>
          <a:p>
            <a:pPr marL="0" indent="0">
              <a:buNone/>
            </a:pPr>
            <a:r>
              <a:rPr lang="en-US" altLang="zh-CN" b="1" dirty="0"/>
              <a:t>I am sure this activity is to your taste because it is rewarding, entertaining, and educational. </a:t>
            </a:r>
            <a:endParaRPr lang="zh-CN" altLang="zh-CN" b="1" dirty="0"/>
          </a:p>
        </p:txBody>
      </p:sp>
    </p:spTree>
    <p:extLst>
      <p:ext uri="{BB962C8B-B14F-4D97-AF65-F5344CB8AC3E}">
        <p14:creationId xmlns:p14="http://schemas.microsoft.com/office/powerpoint/2010/main" val="422348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79512" y="260648"/>
            <a:ext cx="8507288" cy="6597352"/>
          </a:xfrm>
        </p:spPr>
        <p:txBody>
          <a:bodyPr>
            <a:normAutofit fontScale="92500" lnSpcReduction="10000"/>
          </a:bodyPr>
          <a:lstStyle/>
          <a:p>
            <a:r>
              <a:rPr lang="en-US" altLang="zh-CN" b="1" dirty="0"/>
              <a:t>18. </a:t>
            </a:r>
            <a:r>
              <a:rPr lang="zh-CN" altLang="zh-CN" b="1" dirty="0"/>
              <a:t>得知您对中国文化充满热情，我很高兴地告诉您，本周五下午</a:t>
            </a:r>
            <a:r>
              <a:rPr lang="en-US" altLang="zh-CN" b="1" dirty="0"/>
              <a:t>7</a:t>
            </a:r>
            <a:r>
              <a:rPr lang="zh-CN" altLang="zh-CN" b="1" dirty="0"/>
              <a:t>点，在我们学校的礼堂举行一场关于京剧发展的讲座，我强烈建议您参加。</a:t>
            </a:r>
          </a:p>
          <a:p>
            <a:pPr marL="0" indent="0">
              <a:buNone/>
            </a:pPr>
            <a:r>
              <a:rPr lang="en-US" altLang="zh-CN" b="1" dirty="0"/>
              <a:t>Learning that you are enthusiastic about Chinese culture, I am delighted to tell you that a lecture concerning the development of Beijing Opera will be held in our school hall at 7:00 pm this Friday. I strongly recommend you to attend it.</a:t>
            </a:r>
            <a:endParaRPr lang="zh-CN" altLang="zh-CN" b="1" dirty="0"/>
          </a:p>
          <a:p>
            <a:r>
              <a:rPr lang="en-US" altLang="zh-CN" b="1" dirty="0"/>
              <a:t>19.</a:t>
            </a:r>
            <a:r>
              <a:rPr lang="zh-CN" altLang="zh-CN" b="1" dirty="0"/>
              <a:t>我坚信，这个暑假将为您提供一个很好的机会让您近距离地了解中国，了解中国的多元文化和友好的人民</a:t>
            </a:r>
            <a:r>
              <a:rPr lang="zh-CN" altLang="zh-CN" b="1" dirty="0" smtClean="0"/>
              <a:t>。</a:t>
            </a:r>
            <a:endParaRPr lang="en-US" altLang="zh-CN" b="1" dirty="0" smtClean="0"/>
          </a:p>
          <a:p>
            <a:pPr marL="0" indent="0">
              <a:buNone/>
            </a:pPr>
            <a:r>
              <a:rPr lang="en-US" altLang="zh-CN" b="1" dirty="0" smtClean="0"/>
              <a:t>I </a:t>
            </a:r>
            <a:r>
              <a:rPr lang="en-US" altLang="zh-CN" b="1" dirty="0"/>
              <a:t>firmly believe that this summer vacation will offer you a good opportunity to have a close look at China as well as China’s diverse culture and </a:t>
            </a:r>
            <a:r>
              <a:rPr lang="en-US" altLang="zh-CN" b="1" dirty="0" smtClean="0"/>
              <a:t>friendly </a:t>
            </a:r>
            <a:r>
              <a:rPr lang="en-US" altLang="zh-CN" b="1" dirty="0"/>
              <a:t>people.</a:t>
            </a:r>
            <a:endParaRPr lang="zh-CN" altLang="zh-CN" b="1" dirty="0"/>
          </a:p>
        </p:txBody>
      </p:sp>
    </p:spTree>
    <p:extLst>
      <p:ext uri="{BB962C8B-B14F-4D97-AF65-F5344CB8AC3E}">
        <p14:creationId xmlns:p14="http://schemas.microsoft.com/office/powerpoint/2010/main" val="287108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264696"/>
          </a:xfrm>
        </p:spPr>
        <p:txBody>
          <a:bodyPr>
            <a:normAutofit/>
          </a:bodyPr>
          <a:lstStyle/>
          <a:p>
            <a:r>
              <a:rPr lang="en-US" altLang="zh-CN" b="1" dirty="0"/>
              <a:t>20.</a:t>
            </a:r>
            <a:r>
              <a:rPr lang="zh-CN" altLang="zh-CN" b="1" dirty="0"/>
              <a:t>如果您能参加，我们将不胜荣幸。</a:t>
            </a:r>
          </a:p>
          <a:p>
            <a:pPr marL="0" indent="0">
              <a:buNone/>
            </a:pPr>
            <a:r>
              <a:rPr lang="en-US" altLang="zh-CN" b="1" dirty="0"/>
              <a:t>We would feel greatly honored to have you there with us.</a:t>
            </a:r>
            <a:endParaRPr lang="zh-CN" altLang="zh-CN" b="1" dirty="0"/>
          </a:p>
          <a:p>
            <a:r>
              <a:rPr lang="en-US" altLang="zh-CN" b="1" dirty="0"/>
              <a:t>21.</a:t>
            </a:r>
            <a:r>
              <a:rPr lang="zh-CN" altLang="zh-CN" b="1" dirty="0"/>
              <a:t>我们非常高兴的期待着你的到来</a:t>
            </a:r>
            <a:r>
              <a:rPr lang="zh-CN" altLang="zh-CN" b="1" dirty="0" smtClean="0"/>
              <a:t>。</a:t>
            </a:r>
            <a:endParaRPr lang="en-US" altLang="zh-CN" b="1" dirty="0" smtClean="0"/>
          </a:p>
          <a:p>
            <a:pPr marL="0" indent="0">
              <a:buNone/>
            </a:pPr>
            <a:r>
              <a:rPr lang="en-US" altLang="zh-CN" b="1" dirty="0" smtClean="0"/>
              <a:t>We </a:t>
            </a:r>
            <a:r>
              <a:rPr lang="en-US" altLang="zh-CN" b="1" dirty="0"/>
              <a:t>are looking forward to your coming with great pleasure</a:t>
            </a:r>
            <a:r>
              <a:rPr lang="en-US" altLang="zh-CN" b="1" dirty="0" smtClean="0"/>
              <a:t>.</a:t>
            </a:r>
            <a:r>
              <a:rPr lang="en-US" altLang="zh-CN" b="1" dirty="0"/>
              <a:t> </a:t>
            </a:r>
            <a:endParaRPr lang="en-US" altLang="zh-CN" b="1" dirty="0" smtClean="0"/>
          </a:p>
          <a:p>
            <a:r>
              <a:rPr lang="en-US" altLang="zh-CN" b="1" dirty="0" smtClean="0"/>
              <a:t>22</a:t>
            </a:r>
            <a:r>
              <a:rPr lang="en-US" altLang="zh-CN" b="1" dirty="0"/>
              <a:t>. </a:t>
            </a:r>
            <a:r>
              <a:rPr lang="zh-CN" altLang="zh-CN" b="1" dirty="0"/>
              <a:t>请告诉我什么时间最适合你。</a:t>
            </a:r>
          </a:p>
          <a:p>
            <a:pPr marL="0" indent="0">
              <a:buNone/>
            </a:pPr>
            <a:r>
              <a:rPr lang="en-US" altLang="zh-CN" b="1" dirty="0"/>
              <a:t>Please tell me the most convenient time for you.</a:t>
            </a:r>
            <a:endParaRPr lang="zh-CN" altLang="zh-CN" b="1" dirty="0"/>
          </a:p>
          <a:p>
            <a:r>
              <a:rPr lang="en-US" altLang="zh-CN" b="1" dirty="0"/>
              <a:t>23.</a:t>
            </a:r>
            <a:r>
              <a:rPr lang="zh-CN" altLang="zh-CN" b="1" dirty="0"/>
              <a:t>我想跟史密斯医生这周约个见面的时间</a:t>
            </a:r>
            <a:r>
              <a:rPr lang="en-US" altLang="zh-CN" b="1" dirty="0"/>
              <a:t>.</a:t>
            </a:r>
            <a:endParaRPr lang="zh-CN" altLang="zh-CN" b="1" dirty="0"/>
          </a:p>
          <a:p>
            <a:pPr marL="0" indent="0">
              <a:buNone/>
            </a:pPr>
            <a:r>
              <a:rPr lang="en-US" altLang="zh-CN" b="1" dirty="0"/>
              <a:t>I'd like to make an appointment with Dr. Smith this week.</a:t>
            </a:r>
            <a:endParaRPr lang="zh-CN" altLang="zh-CN" b="1" dirty="0"/>
          </a:p>
          <a:p>
            <a:pPr marL="0" indent="0">
              <a:buNone/>
            </a:pPr>
            <a:endParaRPr lang="zh-CN" altLang="zh-CN" dirty="0"/>
          </a:p>
          <a:p>
            <a:endParaRPr lang="zh-CN" altLang="zh-CN" dirty="0"/>
          </a:p>
          <a:p>
            <a:endParaRPr lang="zh-CN" altLang="zh-CN" dirty="0"/>
          </a:p>
        </p:txBody>
      </p:sp>
    </p:spTree>
    <p:extLst>
      <p:ext uri="{BB962C8B-B14F-4D97-AF65-F5344CB8AC3E}">
        <p14:creationId xmlns:p14="http://schemas.microsoft.com/office/powerpoint/2010/main" val="147559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264696"/>
          </a:xfrm>
        </p:spPr>
        <p:txBody>
          <a:bodyPr>
            <a:normAutofit/>
          </a:bodyPr>
          <a:lstStyle/>
          <a:p>
            <a:r>
              <a:rPr lang="en-US" altLang="zh-CN" b="1" dirty="0"/>
              <a:t>24. </a:t>
            </a:r>
            <a:r>
              <a:rPr lang="zh-CN" altLang="zh-CN" b="1" dirty="0"/>
              <a:t>下周六重阳节那天，我想邀请你和我们一起去附近的养老院。</a:t>
            </a:r>
          </a:p>
          <a:p>
            <a:pPr marL="0" indent="0">
              <a:buNone/>
            </a:pPr>
            <a:r>
              <a:rPr lang="en-US" altLang="zh-CN" b="1" dirty="0"/>
              <a:t>I'd like to invite you to join us for a visit to the nearby nursing home on the Double Ninth Festival next Saturday.</a:t>
            </a:r>
            <a:endParaRPr lang="zh-CN" altLang="zh-CN" b="1" dirty="0"/>
          </a:p>
          <a:p>
            <a:r>
              <a:rPr lang="en-US" altLang="zh-CN" b="1" dirty="0"/>
              <a:t>25. </a:t>
            </a:r>
            <a:r>
              <a:rPr lang="zh-CN" altLang="zh-CN" b="1" dirty="0"/>
              <a:t>此外，还将举办各种各样的活动，包括不同班级之间的比赛，这将是本次展览的亮点</a:t>
            </a:r>
            <a:r>
              <a:rPr lang="zh-CN" altLang="zh-CN" b="1" dirty="0" smtClean="0"/>
              <a:t>。</a:t>
            </a:r>
            <a:endParaRPr lang="en-US" altLang="zh-CN" b="1" dirty="0" smtClean="0"/>
          </a:p>
          <a:p>
            <a:pPr marL="0" indent="0">
              <a:buNone/>
            </a:pPr>
            <a:r>
              <a:rPr lang="en-US" altLang="zh-CN" b="1" dirty="0" smtClean="0"/>
              <a:t>Additionally</a:t>
            </a:r>
            <a:r>
              <a:rPr lang="en-US" altLang="zh-CN" b="1" dirty="0"/>
              <a:t>, a wide range of activities will be held, including the competitions between different classes, which will be the highlight of this show.</a:t>
            </a:r>
            <a:endParaRPr lang="zh-CN" altLang="zh-CN" b="1" dirty="0"/>
          </a:p>
          <a:p>
            <a:pPr marL="0" indent="0">
              <a:buNone/>
            </a:pPr>
            <a:endParaRPr lang="zh-CN" altLang="zh-CN" dirty="0"/>
          </a:p>
          <a:p>
            <a:endParaRPr lang="zh-CN" altLang="zh-CN" dirty="0"/>
          </a:p>
          <a:p>
            <a:endParaRPr lang="zh-CN" altLang="zh-CN" dirty="0"/>
          </a:p>
        </p:txBody>
      </p:sp>
    </p:spTree>
    <p:extLst>
      <p:ext uri="{BB962C8B-B14F-4D97-AF65-F5344CB8AC3E}">
        <p14:creationId xmlns:p14="http://schemas.microsoft.com/office/powerpoint/2010/main" val="3363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264696"/>
          </a:xfrm>
        </p:spPr>
        <p:txBody>
          <a:bodyPr>
            <a:normAutofit lnSpcReduction="10000"/>
          </a:bodyPr>
          <a:lstStyle/>
          <a:p>
            <a:r>
              <a:rPr lang="en-US" altLang="zh-CN" b="1" dirty="0"/>
              <a:t>26. </a:t>
            </a:r>
            <a:r>
              <a:rPr lang="zh-CN" altLang="zh-CN" b="1" dirty="0"/>
              <a:t>你可以带一台摄像机来记录美丽景色，还需要一把伞或一件雨衣以防被雨淋到</a:t>
            </a:r>
            <a:r>
              <a:rPr lang="zh-CN" altLang="zh-CN" b="1" dirty="0" smtClean="0"/>
              <a:t>。</a:t>
            </a:r>
            <a:endParaRPr lang="en-US" altLang="zh-CN" b="1" dirty="0" smtClean="0"/>
          </a:p>
          <a:p>
            <a:pPr marL="0" indent="0">
              <a:buNone/>
            </a:pPr>
            <a:r>
              <a:rPr lang="en-US" altLang="zh-CN" b="1" dirty="0" smtClean="0"/>
              <a:t>You </a:t>
            </a:r>
            <a:r>
              <a:rPr lang="en-US" altLang="zh-CN" b="1" dirty="0"/>
              <a:t>may equip yourself with a camera to record the breathtaking scenery and an umbrella or a raincoat is also necessary in case you are caught in the rain.</a:t>
            </a:r>
            <a:endParaRPr lang="zh-CN" altLang="zh-CN" b="1" dirty="0"/>
          </a:p>
          <a:p>
            <a:r>
              <a:rPr lang="en-US" altLang="zh-CN" b="1" dirty="0"/>
              <a:t>27. </a:t>
            </a:r>
            <a:r>
              <a:rPr lang="zh-CN" altLang="zh-CN" b="1" dirty="0"/>
              <a:t>利用这个难得的机会，我们不但可以加深对中国本土文化的了解，也可以丰富我们的校园</a:t>
            </a:r>
            <a:r>
              <a:rPr lang="zh-CN" altLang="zh-CN" b="1" dirty="0" smtClean="0"/>
              <a:t>生活</a:t>
            </a:r>
            <a:endParaRPr lang="en-US" altLang="zh-CN" b="1" dirty="0" smtClean="0"/>
          </a:p>
          <a:p>
            <a:pPr marL="0" indent="0">
              <a:buNone/>
            </a:pPr>
            <a:r>
              <a:rPr lang="en-US" altLang="zh-CN" b="1" dirty="0" smtClean="0"/>
              <a:t>Taking </a:t>
            </a:r>
            <a:r>
              <a:rPr lang="en-US" altLang="zh-CN" b="1" dirty="0"/>
              <a:t>advantage of this golden opportunity , we can not only enhance our understanding of Chinese indigenous culture but also enrich our campus life.</a:t>
            </a:r>
            <a:endParaRPr lang="zh-CN" altLang="zh-CN" b="1" dirty="0"/>
          </a:p>
          <a:p>
            <a:endParaRPr lang="zh-CN" altLang="zh-CN" b="1" dirty="0"/>
          </a:p>
          <a:p>
            <a:endParaRPr lang="zh-CN" altLang="zh-CN" dirty="0"/>
          </a:p>
        </p:txBody>
      </p:sp>
    </p:spTree>
    <p:extLst>
      <p:ext uri="{BB962C8B-B14F-4D97-AF65-F5344CB8AC3E}">
        <p14:creationId xmlns:p14="http://schemas.microsoft.com/office/powerpoint/2010/main" val="149586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8435280" cy="6264696"/>
          </a:xfrm>
        </p:spPr>
        <p:txBody>
          <a:bodyPr>
            <a:normAutofit lnSpcReduction="10000"/>
          </a:bodyPr>
          <a:lstStyle/>
          <a:p>
            <a:r>
              <a:rPr lang="en-US" altLang="zh-CN" b="1" dirty="0"/>
              <a:t>28. </a:t>
            </a:r>
            <a:r>
              <a:rPr lang="zh-CN" altLang="zh-CN" b="1" dirty="0"/>
              <a:t>您的参与一定会给我们的旅行增添色彩，我们都期待着您的参与</a:t>
            </a:r>
            <a:r>
              <a:rPr lang="zh-CN" altLang="zh-CN" b="1" dirty="0" smtClean="0"/>
              <a:t>。</a:t>
            </a:r>
            <a:endParaRPr lang="en-US" altLang="zh-CN" b="1" dirty="0" smtClean="0"/>
          </a:p>
          <a:p>
            <a:pPr marL="0" indent="0">
              <a:buNone/>
            </a:pPr>
            <a:r>
              <a:rPr lang="en-US" altLang="zh-CN" b="1" dirty="0" smtClean="0"/>
              <a:t>Your </a:t>
            </a:r>
            <a:r>
              <a:rPr lang="en-US" altLang="zh-CN" b="1" dirty="0"/>
              <a:t>participation can surely add color to our trip and we are all looking forward to your involvement.</a:t>
            </a:r>
            <a:endParaRPr lang="zh-CN" altLang="zh-CN" b="1" dirty="0"/>
          </a:p>
          <a:p>
            <a:r>
              <a:rPr lang="en-US" altLang="zh-CN" b="1" dirty="0"/>
              <a:t>29. </a:t>
            </a:r>
            <a:r>
              <a:rPr lang="zh-CN" altLang="zh-CN" b="1" dirty="0"/>
              <a:t>期待您的光临</a:t>
            </a:r>
            <a:r>
              <a:rPr lang="zh-CN" altLang="zh-CN" b="1" dirty="0" smtClean="0"/>
              <a:t>！</a:t>
            </a:r>
            <a:endParaRPr lang="en-US" altLang="zh-CN" b="1" dirty="0" smtClean="0"/>
          </a:p>
          <a:p>
            <a:pPr marL="0" indent="0">
              <a:buNone/>
            </a:pPr>
            <a:r>
              <a:rPr lang="en-US" altLang="zh-CN" b="1" dirty="0" smtClean="0"/>
              <a:t>Your </a:t>
            </a:r>
            <a:r>
              <a:rPr lang="en-US" altLang="zh-CN" b="1" dirty="0"/>
              <a:t>presence is highly expected!</a:t>
            </a:r>
            <a:endParaRPr lang="zh-CN" altLang="zh-CN" b="1" dirty="0"/>
          </a:p>
          <a:p>
            <a:r>
              <a:rPr lang="en-US" altLang="zh-CN" b="1" dirty="0"/>
              <a:t>30. </a:t>
            </a:r>
            <a:r>
              <a:rPr lang="zh-CN" altLang="zh-CN" b="1" dirty="0"/>
              <a:t>如果你能接受我的邀请我将不胜感激。我相信这会给你留下美好的回忆。</a:t>
            </a:r>
          </a:p>
          <a:p>
            <a:pPr marL="0" indent="0">
              <a:buNone/>
            </a:pPr>
            <a:r>
              <a:rPr lang="en-US" altLang="zh-CN" b="1" dirty="0"/>
              <a:t>I would appreciate it if you could accept my invitation. I’m convinced it can leave a wonderful impression on you.</a:t>
            </a:r>
            <a:endParaRPr lang="zh-CN" altLang="zh-CN" b="1" dirty="0"/>
          </a:p>
          <a:p>
            <a:endParaRPr lang="zh-CN" altLang="zh-CN" dirty="0"/>
          </a:p>
          <a:p>
            <a:endParaRPr lang="zh-CN" altLang="zh-CN" dirty="0"/>
          </a:p>
        </p:txBody>
      </p:sp>
    </p:spTree>
    <p:extLst>
      <p:ext uri="{BB962C8B-B14F-4D97-AF65-F5344CB8AC3E}">
        <p14:creationId xmlns:p14="http://schemas.microsoft.com/office/powerpoint/2010/main" val="115151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31943265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3023</Words>
  <Application>Microsoft Office PowerPoint</Application>
  <PresentationFormat>全屏显示(4:3)</PresentationFormat>
  <Paragraphs>170</Paragraphs>
  <Slides>37</Slides>
  <Notes>0</Notes>
  <HiddenSlides>0</HiddenSlides>
  <MMClips>0</MMClips>
  <ScaleCrop>false</ScaleCrop>
  <HeadingPairs>
    <vt:vector size="4" baseType="variant">
      <vt:variant>
        <vt:lpstr>主题</vt:lpstr>
      </vt:variant>
      <vt:variant>
        <vt:i4>1</vt:i4>
      </vt:variant>
      <vt:variant>
        <vt:lpstr>幻灯片标题</vt:lpstr>
      </vt:variant>
      <vt:variant>
        <vt:i4>37</vt:i4>
      </vt:variant>
    </vt:vector>
  </HeadingPairs>
  <TitlesOfParts>
    <vt:vector size="38" baseType="lpstr">
      <vt:lpstr>Office 主题</vt:lpstr>
      <vt:lpstr>应用文训练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应用文训练</dc:title>
  <dc:creator>Administrator</dc:creator>
  <cp:lastModifiedBy>user</cp:lastModifiedBy>
  <cp:revision>19</cp:revision>
  <dcterms:created xsi:type="dcterms:W3CDTF">2021-03-01T09:16:29Z</dcterms:created>
  <dcterms:modified xsi:type="dcterms:W3CDTF">2021-03-03T02:28:22Z</dcterms:modified>
</cp:coreProperties>
</file>